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11" r:id="rId3"/>
    <p:sldId id="349" r:id="rId5"/>
    <p:sldId id="294" r:id="rId6"/>
    <p:sldId id="295" r:id="rId7"/>
    <p:sldId id="356" r:id="rId8"/>
    <p:sldId id="339" r:id="rId9"/>
    <p:sldId id="362" r:id="rId10"/>
    <p:sldId id="289" r:id="rId11"/>
    <p:sldId id="382" r:id="rId12"/>
    <p:sldId id="340" r:id="rId13"/>
    <p:sldId id="439" r:id="rId14"/>
    <p:sldId id="354" r:id="rId15"/>
    <p:sldId id="472" r:id="rId16"/>
    <p:sldId id="479" r:id="rId17"/>
    <p:sldId id="401" r:id="rId18"/>
    <p:sldId id="402" r:id="rId19"/>
    <p:sldId id="412" r:id="rId20"/>
    <p:sldId id="413" r:id="rId21"/>
    <p:sldId id="404" r:id="rId22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E93C7"/>
    <a:srgbClr val="0054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7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611071-69B6-4986-BEE0-B5FCD693E3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76819-4FBC-410D-9FD1-B33E6EC93E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F775A4-DBCA-43D6-BDA5-B5DAC751E2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F775A4-DBCA-43D6-BDA5-B5DAC751E2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以下是我主修的专业课程，涉及多个交叉方向。绝大多数取得了优异成绩，构筑了扎实专业基础。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B460-0861-418C-8AF6-8B6E48569E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B460-0861-418C-8AF6-8B6E48569E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这里展示了我的获奖证书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B460-0861-418C-8AF6-8B6E48569E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B460-0861-418C-8AF6-8B6E48569E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B460-0861-418C-8AF6-8B6E48569E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B460-0861-418C-8AF6-8B6E48569E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 dirty="0">
              <a:effectLst/>
              <a:latin typeface="仿宋" panose="02010609060101010101" charset="-122"/>
              <a:ea typeface="仿宋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5E8-1558-4A7A-B05D-C610FCAC52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2FAC-E771-4412-9183-D34834F45E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5E8-1558-4A7A-B05D-C610FCAC52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2FAC-E771-4412-9183-D34834F45E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5E8-1558-4A7A-B05D-C610FCAC52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2FAC-E771-4412-9183-D34834F45E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5E8-1558-4A7A-B05D-C610FCAC52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2FAC-E771-4412-9183-D34834F45E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5E8-1558-4A7A-B05D-C610FCAC52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2FAC-E771-4412-9183-D34834F45E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5E8-1558-4A7A-B05D-C610FCAC52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2FAC-E771-4412-9183-D34834F45E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5E8-1558-4A7A-B05D-C610FCAC52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2FAC-E771-4412-9183-D34834F45E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5E8-1558-4A7A-B05D-C610FCAC52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2FAC-E771-4412-9183-D34834F45E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5E8-1558-4A7A-B05D-C610FCAC52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2FAC-E771-4412-9183-D34834F45E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5E8-1558-4A7A-B05D-C610FCAC52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2FAC-E771-4412-9183-D34834F45E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5E8-1558-4A7A-B05D-C610FCAC52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2FAC-E771-4412-9183-D34834F45E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B05E8-1558-4A7A-B05D-C610FCAC52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32FAC-E771-4412-9183-D34834F45E1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tags" Target="../tags/tag3.xml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8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image" Target="../media/image10.png"/><Relationship Id="rId3" Type="http://schemas.openxmlformats.org/officeDocument/2006/relationships/tags" Target="../tags/tag6.xml"/><Relationship Id="rId2" Type="http://schemas.openxmlformats.org/officeDocument/2006/relationships/image" Target="../media/image9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image" Target="../media/image11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3.jpeg"/><Relationship Id="rId11" Type="http://schemas.openxmlformats.org/officeDocument/2006/relationships/tags" Target="../tags/tag19.xml"/><Relationship Id="rId10" Type="http://schemas.openxmlformats.org/officeDocument/2006/relationships/image" Target="../media/image12.jpeg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4" Type="http://schemas.openxmlformats.org/officeDocument/2006/relationships/notesSlide" Target="../notesSlides/notesSlide10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tags" Target="../tags/tag36.xml"/><Relationship Id="rId2" Type="http://schemas.openxmlformats.org/officeDocument/2006/relationships/tags" Target="../tags/tag20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8.png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microsoft.com/office/2007/relationships/hdphoto" Target="../media/image5.wdp"/><Relationship Id="rId21" Type="http://schemas.openxmlformats.org/officeDocument/2006/relationships/notesSlide" Target="../notesSlides/notesSlide12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9" Type="http://schemas.openxmlformats.org/officeDocument/2006/relationships/tags" Target="../tags/tag54.xml"/><Relationship Id="rId18" Type="http://schemas.openxmlformats.org/officeDocument/2006/relationships/image" Target="../media/image23.png"/><Relationship Id="rId17" Type="http://schemas.openxmlformats.org/officeDocument/2006/relationships/tags" Target="../tags/tag53.xml"/><Relationship Id="rId16" Type="http://schemas.openxmlformats.org/officeDocument/2006/relationships/image" Target="../media/image22.png"/><Relationship Id="rId15" Type="http://schemas.openxmlformats.org/officeDocument/2006/relationships/tags" Target="../tags/tag52.xml"/><Relationship Id="rId14" Type="http://schemas.openxmlformats.org/officeDocument/2006/relationships/image" Target="../media/image21.png"/><Relationship Id="rId13" Type="http://schemas.openxmlformats.org/officeDocument/2006/relationships/tags" Target="../tags/tag51.xml"/><Relationship Id="rId12" Type="http://schemas.openxmlformats.org/officeDocument/2006/relationships/image" Target="../media/image20.png"/><Relationship Id="rId11" Type="http://schemas.openxmlformats.org/officeDocument/2006/relationships/tags" Target="../tags/tag50.xml"/><Relationship Id="rId10" Type="http://schemas.openxmlformats.org/officeDocument/2006/relationships/image" Target="../media/image19.png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7" Type="http://schemas.openxmlformats.org/officeDocument/2006/relationships/notesSlide" Target="../notesSlides/notesSlide13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image" Target="../media/image27.png"/><Relationship Id="rId11" Type="http://schemas.openxmlformats.org/officeDocument/2006/relationships/tags" Target="../tags/tag64.xml"/><Relationship Id="rId10" Type="http://schemas.openxmlformats.org/officeDocument/2006/relationships/image" Target="../media/image26.png"/><Relationship Id="rId1" Type="http://schemas.openxmlformats.org/officeDocument/2006/relationships/tags" Target="../tags/tag55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70.xml"/><Relationship Id="rId5" Type="http://schemas.openxmlformats.org/officeDocument/2006/relationships/image" Target="../media/image25.png"/><Relationship Id="rId4" Type="http://schemas.openxmlformats.org/officeDocument/2006/relationships/tags" Target="../tags/tag69.xml"/><Relationship Id="rId3" Type="http://schemas.openxmlformats.org/officeDocument/2006/relationships/image" Target="../media/image24.png"/><Relationship Id="rId2" Type="http://schemas.openxmlformats.org/officeDocument/2006/relationships/tags" Target="../tags/tag68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7"/>
          <p:cNvSpPr txBox="1"/>
          <p:nvPr/>
        </p:nvSpPr>
        <p:spPr>
          <a:xfrm>
            <a:off x="3085631" y="1538109"/>
            <a:ext cx="6020739" cy="1856740"/>
          </a:xfrm>
          <a:prstGeom prst="rect">
            <a:avLst/>
          </a:prstGeom>
          <a:noFill/>
        </p:spPr>
        <p:txBody>
          <a:bodyPr wrap="square" lIns="51422" tIns="25710" rIns="51422" bIns="25710" rtlCol="0">
            <a:spAutoFit/>
          </a:bodyPr>
          <a:lstStyle>
            <a:defPPr>
              <a:defRPr lang="zh-CN"/>
            </a:defPPr>
            <a:lvl1pPr>
              <a:defRPr sz="5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dist"/>
            <a:r>
              <a:rPr lang="zh-CN" altLang="en-US" sz="11735" b="0" kern="300" spc="-300" dirty="0" smtClean="0">
                <a:solidFill>
                  <a:schemeClr val="accent1">
                    <a:lumMod val="7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阿里巴巴普惠体 B" panose="00020600040101010101" pitchFamily="18" charset="-122"/>
              </a:rPr>
              <a:t>个人介绍</a:t>
            </a:r>
            <a:endParaRPr lang="zh-CN" altLang="en-US" sz="11735" b="0" kern="300" spc="-300" dirty="0" smtClean="0">
              <a:solidFill>
                <a:schemeClr val="accent1">
                  <a:lumMod val="7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阿里巴巴普惠体 B" panose="00020600040101010101" pitchFamily="18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166111" y="3101340"/>
            <a:ext cx="5859780" cy="50165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>
            <a:spAutoFit/>
          </a:bodyPr>
          <a:lstStyle/>
          <a:p>
            <a:pPr algn="dist">
              <a:spcAft>
                <a:spcPts val="0"/>
              </a:spcAft>
            </a:pPr>
            <a:r>
              <a:rPr lang="en-US" sz="2665" dirty="0">
                <a:solidFill>
                  <a:schemeClr val="accent1">
                    <a:lumMod val="7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阿里巴巴普惠体 R" panose="00020600040101010101" pitchFamily="18" charset="-122"/>
              </a:rPr>
              <a:t>PERSONAL-RESUME</a:t>
            </a:r>
            <a:endParaRPr lang="en-US" sz="2665" dirty="0">
              <a:solidFill>
                <a:schemeClr val="accent1">
                  <a:lumMod val="75000"/>
                </a:schemeClr>
              </a:solidFill>
              <a:effectLst/>
              <a:latin typeface="汉仪君黑-45简" panose="020B0604020202020204" charset="-122"/>
              <a:ea typeface="汉仪君黑-45简" panose="020B0604020202020204" charset="-122"/>
              <a:cs typeface="阿里巴巴普惠体 R" panose="00020600040101010101" pitchFamily="18" charset="-122"/>
            </a:endParaRPr>
          </a:p>
        </p:txBody>
      </p:sp>
      <p:sp>
        <p:nvSpPr>
          <p:cNvPr id="22" name="文本框 12"/>
          <p:cNvSpPr txBox="1"/>
          <p:nvPr/>
        </p:nvSpPr>
        <p:spPr>
          <a:xfrm>
            <a:off x="3040656" y="5498384"/>
            <a:ext cx="6110688" cy="3587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735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手机</a:t>
            </a:r>
            <a:r>
              <a:rPr lang="zh-CN" altLang="en-US" sz="1735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号：</a:t>
            </a:r>
            <a:r>
              <a:rPr lang="en-US" altLang="zh-CN" sz="1735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xxxxxxxx</a:t>
            </a:r>
            <a:r>
              <a:rPr lang="en-US" altLang="zh-CN" sz="1735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    </a:t>
            </a:r>
            <a:r>
              <a:rPr lang="zh-CN" altLang="en-US" sz="1735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邮箱：</a:t>
            </a:r>
            <a:r>
              <a:rPr lang="en-US" altLang="zh-CN" sz="1735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xxxxxxxx</a:t>
            </a:r>
            <a:endParaRPr lang="zh-CN" altLang="en-US" sz="1735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  <a:sym typeface="+mn-lt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341152" y="4419585"/>
            <a:ext cx="3328085" cy="45917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阿里巴巴普惠体 R" panose="00020600040101010101" pitchFamily="18" charset="-122"/>
            </a:endParaRPr>
          </a:p>
        </p:txBody>
      </p:sp>
      <p:sp>
        <p:nvSpPr>
          <p:cNvPr id="24" name="文本框 12"/>
          <p:cNvSpPr txBox="1"/>
          <p:nvPr/>
        </p:nvSpPr>
        <p:spPr>
          <a:xfrm>
            <a:off x="4500457" y="4425950"/>
            <a:ext cx="3009900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91440" tIns="45720" rIns="91440" bIns="4572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</a:rPr>
              <a:t>汇报人：</a:t>
            </a:r>
            <a:r>
              <a:rPr lang="en-US" altLang="zh-CN" sz="24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</a:rPr>
              <a:t>xxx</a:t>
            </a:r>
            <a:endParaRPr lang="en-US" altLang="zh-CN" sz="24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97480" y="1320800"/>
            <a:ext cx="6797040" cy="2540000"/>
          </a:xfrm>
          <a:prstGeom prst="rect">
            <a:avLst/>
          </a:prstGeom>
          <a:noFill/>
          <a:ln w="9525">
            <a:solidFill>
              <a:srgbClr val="3F5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矩形 2"/>
          <p:cNvSpPr/>
          <p:nvPr/>
        </p:nvSpPr>
        <p:spPr>
          <a:xfrm>
            <a:off x="-847" y="6274647"/>
            <a:ext cx="12193693" cy="58335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grpSp>
        <p:nvGrpSpPr>
          <p:cNvPr id="7" name="组合 6"/>
          <p:cNvGrpSpPr/>
          <p:nvPr/>
        </p:nvGrpSpPr>
        <p:grpSpPr>
          <a:xfrm>
            <a:off x="2269913" y="821267"/>
            <a:ext cx="1168400" cy="1375833"/>
            <a:chOff x="3002" y="1096"/>
            <a:chExt cx="1351" cy="1588"/>
          </a:xfrm>
        </p:grpSpPr>
        <p:cxnSp>
          <p:nvCxnSpPr>
            <p:cNvPr id="5" name="直接连接符 4"/>
            <p:cNvCxnSpPr/>
            <p:nvPr/>
          </p:nvCxnSpPr>
          <p:spPr>
            <a:xfrm flipH="1">
              <a:off x="3002" y="1668"/>
              <a:ext cx="1022" cy="1017"/>
            </a:xfrm>
            <a:prstGeom prst="line">
              <a:avLst/>
            </a:prstGeom>
            <a:ln w="9525">
              <a:solidFill>
                <a:srgbClr val="3F5E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 flipH="1">
              <a:off x="3331" y="1096"/>
              <a:ext cx="1022" cy="1017"/>
            </a:xfrm>
            <a:prstGeom prst="line">
              <a:avLst/>
            </a:prstGeom>
            <a:ln w="9525">
              <a:solidFill>
                <a:srgbClr val="3F5E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8722360" y="2962487"/>
            <a:ext cx="1168400" cy="1375833"/>
            <a:chOff x="3002" y="1096"/>
            <a:chExt cx="1351" cy="1588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3002" y="1668"/>
              <a:ext cx="1022" cy="1017"/>
            </a:xfrm>
            <a:prstGeom prst="line">
              <a:avLst/>
            </a:prstGeom>
            <a:ln w="9525">
              <a:solidFill>
                <a:srgbClr val="3F5E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>
              <a:off x="3331" y="1096"/>
              <a:ext cx="1022" cy="1017"/>
            </a:xfrm>
            <a:prstGeom prst="line">
              <a:avLst/>
            </a:prstGeom>
            <a:ln w="9525">
              <a:solidFill>
                <a:srgbClr val="3F5E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539827" y="0"/>
            <a:ext cx="7651327" cy="685715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grpSp>
        <p:nvGrpSpPr>
          <p:cNvPr id="14" name="组合 13"/>
          <p:cNvGrpSpPr/>
          <p:nvPr/>
        </p:nvGrpSpPr>
        <p:grpSpPr>
          <a:xfrm>
            <a:off x="703580" y="2083647"/>
            <a:ext cx="3499104" cy="2183553"/>
            <a:chOff x="912" y="2458"/>
            <a:chExt cx="4133" cy="2579"/>
          </a:xfrm>
        </p:grpSpPr>
        <p:sp>
          <p:nvSpPr>
            <p:cNvPr id="10" name="文本框 9"/>
            <p:cNvSpPr/>
            <p:nvPr/>
          </p:nvSpPr>
          <p:spPr>
            <a:xfrm>
              <a:off x="912" y="3006"/>
              <a:ext cx="4133" cy="1126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>
              <a:spAutoFit/>
            </a:bodyPr>
            <a:p>
              <a:pPr algn="ctr"/>
              <a:r>
                <a:rPr lang="zh-CN" altLang="en-US" sz="5600" dirty="0">
                  <a:solidFill>
                    <a:schemeClr val="accent1">
                      <a:lumMod val="75000"/>
                    </a:schemeClr>
                  </a:solidFill>
                  <a:latin typeface="汉仪君黑-45简" panose="020B0604020202020204" charset="-122"/>
                  <a:ea typeface="汉仪君黑-45简" panose="020B0604020202020204" charset="-122"/>
                  <a:cs typeface="阿里巴巴普惠体 B" panose="00020600040101010101" pitchFamily="18" charset="-122"/>
                  <a:sym typeface="+mn-lt"/>
                </a:rPr>
                <a:t>目录</a:t>
              </a:r>
              <a:endParaRPr lang="zh-CN" altLang="en-US" sz="5600" dirty="0">
                <a:solidFill>
                  <a:schemeClr val="accent1">
                    <a:lumMod val="7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阿里巴巴普惠体 B" panose="00020600040101010101" pitchFamily="18" charset="-122"/>
                <a:sym typeface="+mn-lt"/>
              </a:endParaRPr>
            </a:p>
          </p:txBody>
        </p:sp>
        <p:sp>
          <p:nvSpPr>
            <p:cNvPr id="12" name="文本框 11"/>
            <p:cNvSpPr/>
            <p:nvPr/>
          </p:nvSpPr>
          <p:spPr>
            <a:xfrm>
              <a:off x="1091" y="3990"/>
              <a:ext cx="3776" cy="497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>
              <a:spAutoFit/>
            </a:bodyPr>
            <a:p>
              <a:pPr algn="ctr"/>
              <a:r>
                <a:rPr lang="en-US" altLang="zh-CN" sz="2135" dirty="0">
                  <a:solidFill>
                    <a:schemeClr val="accent1">
                      <a:lumMod val="75000"/>
                    </a:schemeClr>
                  </a:solidFill>
                  <a:latin typeface="汉仪君黑-45简" panose="020B0604020202020204" charset="-122"/>
                  <a:ea typeface="汉仪君黑-45简" panose="020B0604020202020204" charset="-122"/>
                  <a:cs typeface="阿里巴巴普惠体 R" panose="00020600040101010101" pitchFamily="18" charset="-122"/>
                  <a:sym typeface="+mn-lt"/>
                </a:rPr>
                <a:t>CONTENTS</a:t>
              </a:r>
              <a:endParaRPr lang="en-US" altLang="zh-CN" sz="2135" dirty="0">
                <a:solidFill>
                  <a:schemeClr val="accent1">
                    <a:lumMod val="7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阿里巴巴普惠体 R" panose="00020600040101010101" pitchFamily="18" charset="-122"/>
                <a:sym typeface="+mn-lt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179" y="2458"/>
              <a:ext cx="3672" cy="2579"/>
              <a:chOff x="2681" y="910"/>
              <a:chExt cx="9001" cy="4153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3186" y="1500"/>
                <a:ext cx="8028" cy="3000"/>
              </a:xfrm>
              <a:prstGeom prst="rect">
                <a:avLst/>
              </a:prstGeom>
              <a:noFill/>
              <a:ln w="9525">
                <a:solidFill>
                  <a:srgbClr val="3F5E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400">
                  <a:solidFill>
                    <a:srgbClr val="3F5E80"/>
                  </a:solidFill>
                </a:endParaRPr>
              </a:p>
            </p:txBody>
          </p:sp>
          <p:grpSp>
            <p:nvGrpSpPr>
              <p:cNvPr id="7" name="组合 6"/>
              <p:cNvGrpSpPr/>
              <p:nvPr/>
            </p:nvGrpSpPr>
            <p:grpSpPr>
              <a:xfrm>
                <a:off x="2681" y="910"/>
                <a:ext cx="1380" cy="1625"/>
                <a:chOff x="3002" y="1096"/>
                <a:chExt cx="1351" cy="1588"/>
              </a:xfrm>
            </p:grpSpPr>
            <p:cxnSp>
              <p:nvCxnSpPr>
                <p:cNvPr id="5" name="直接连接符 4"/>
                <p:cNvCxnSpPr/>
                <p:nvPr/>
              </p:nvCxnSpPr>
              <p:spPr>
                <a:xfrm flipH="1">
                  <a:off x="3002" y="1668"/>
                  <a:ext cx="1022" cy="1017"/>
                </a:xfrm>
                <a:prstGeom prst="line">
                  <a:avLst/>
                </a:prstGeom>
                <a:ln w="9525">
                  <a:solidFill>
                    <a:srgbClr val="3F5E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直接连接符 5"/>
                <p:cNvCxnSpPr/>
                <p:nvPr/>
              </p:nvCxnSpPr>
              <p:spPr>
                <a:xfrm flipH="1">
                  <a:off x="3331" y="1096"/>
                  <a:ext cx="1022" cy="1017"/>
                </a:xfrm>
                <a:prstGeom prst="line">
                  <a:avLst/>
                </a:prstGeom>
                <a:ln w="9525">
                  <a:solidFill>
                    <a:srgbClr val="3F5E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10302" y="3439"/>
                <a:ext cx="1380" cy="1625"/>
                <a:chOff x="3002" y="1096"/>
                <a:chExt cx="1351" cy="1588"/>
              </a:xfrm>
            </p:grpSpPr>
            <p:cxnSp>
              <p:nvCxnSpPr>
                <p:cNvPr id="9" name="直接连接符 8"/>
                <p:cNvCxnSpPr/>
                <p:nvPr/>
              </p:nvCxnSpPr>
              <p:spPr>
                <a:xfrm flipH="1">
                  <a:off x="3002" y="1668"/>
                  <a:ext cx="1022" cy="1017"/>
                </a:xfrm>
                <a:prstGeom prst="line">
                  <a:avLst/>
                </a:prstGeom>
                <a:ln w="9525">
                  <a:solidFill>
                    <a:srgbClr val="3F5E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>
                <a:xfrm flipH="1">
                  <a:off x="3331" y="1096"/>
                  <a:ext cx="1022" cy="1017"/>
                </a:xfrm>
                <a:prstGeom prst="line">
                  <a:avLst/>
                </a:prstGeom>
                <a:ln w="9525">
                  <a:solidFill>
                    <a:srgbClr val="3F5E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7" name="文本框 53"/>
          <p:cNvSpPr>
            <a:spLocks noChangeArrowheads="1"/>
          </p:cNvSpPr>
          <p:nvPr/>
        </p:nvSpPr>
        <p:spPr bwMode="auto">
          <a:xfrm>
            <a:off x="6299200" y="1799167"/>
            <a:ext cx="1607820" cy="5016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665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阿里巴巴普惠体 R" panose="00020600040101010101" pitchFamily="18" charset="-122"/>
                <a:sym typeface="+mn-lt"/>
              </a:rPr>
              <a:t>教育背景</a:t>
            </a:r>
            <a:endParaRPr lang="zh-CN" altLang="en-US" sz="2665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阿里巴巴普惠体 R" panose="00020600040101010101" pitchFamily="18" charset="-122"/>
              <a:sym typeface="+mn-lt"/>
            </a:endParaRPr>
          </a:p>
        </p:txBody>
      </p:sp>
      <p:sp>
        <p:nvSpPr>
          <p:cNvPr id="48" name="文本框54"/>
          <p:cNvSpPr>
            <a:spLocks noChangeArrowheads="1"/>
          </p:cNvSpPr>
          <p:nvPr/>
        </p:nvSpPr>
        <p:spPr bwMode="auto">
          <a:xfrm>
            <a:off x="6299200" y="2735580"/>
            <a:ext cx="1607820" cy="5016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665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阿里巴巴普惠体 R" panose="00020600040101010101" pitchFamily="18" charset="-122"/>
                <a:sym typeface="+mn-lt"/>
              </a:rPr>
              <a:t>所获荣誉</a:t>
            </a:r>
            <a:endParaRPr lang="zh-CN" altLang="en-US" sz="2665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阿里巴巴普惠体 R" panose="00020600040101010101" pitchFamily="18" charset="-122"/>
              <a:sym typeface="+mn-lt"/>
            </a:endParaRPr>
          </a:p>
        </p:txBody>
      </p:sp>
      <p:sp>
        <p:nvSpPr>
          <p:cNvPr id="49" name="文本框 48"/>
          <p:cNvSpPr>
            <a:spLocks noChangeArrowheads="1"/>
          </p:cNvSpPr>
          <p:nvPr/>
        </p:nvSpPr>
        <p:spPr bwMode="auto">
          <a:xfrm>
            <a:off x="6299200" y="3671993"/>
            <a:ext cx="1607820" cy="5016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665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阿里巴巴普惠体 R" panose="00020600040101010101" pitchFamily="18" charset="-122"/>
                <a:sym typeface="+mn-lt"/>
              </a:rPr>
              <a:t>实践项目</a:t>
            </a:r>
            <a:endParaRPr lang="zh-CN" altLang="en-US" sz="2665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阿里巴巴普惠体 R" panose="00020600040101010101" pitchFamily="18" charset="-122"/>
              <a:sym typeface="+mn-lt"/>
            </a:endParaRPr>
          </a:p>
        </p:txBody>
      </p:sp>
      <p:sp>
        <p:nvSpPr>
          <p:cNvPr id="50" name="文本框 49"/>
          <p:cNvSpPr>
            <a:spLocks noChangeArrowheads="1"/>
          </p:cNvSpPr>
          <p:nvPr/>
        </p:nvSpPr>
        <p:spPr bwMode="auto">
          <a:xfrm>
            <a:off x="6299200" y="4608407"/>
            <a:ext cx="1607820" cy="5016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665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阿里巴巴普惠体 R" panose="00020600040101010101" pitchFamily="18" charset="-122"/>
                <a:sym typeface="+mn-lt"/>
              </a:rPr>
              <a:t>其他经历</a:t>
            </a:r>
            <a:endParaRPr lang="zh-CN" altLang="en-US" sz="2665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阿里巴巴普惠体 R" panose="00020600040101010101" pitchFamily="18" charset="-122"/>
              <a:sym typeface="+mn-lt"/>
            </a:endParaRPr>
          </a:p>
        </p:txBody>
      </p:sp>
      <p:sp>
        <p:nvSpPr>
          <p:cNvPr id="15" name="文本框 53"/>
          <p:cNvSpPr>
            <a:spLocks noChangeArrowheads="1"/>
          </p:cNvSpPr>
          <p:nvPr/>
        </p:nvSpPr>
        <p:spPr bwMode="auto">
          <a:xfrm>
            <a:off x="5530427" y="1799167"/>
            <a:ext cx="649393" cy="5016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p>
            <a:pPr algn="ctr">
              <a:lnSpc>
                <a:spcPct val="100000"/>
              </a:lnSpc>
            </a:pPr>
            <a:r>
              <a:rPr lang="en-US" altLang="zh-CN" sz="2665" dirty="0">
                <a:solidFill>
                  <a:srgbClr val="3F5E80"/>
                </a:solidFill>
                <a:latin typeface="汉仪君黑-45简" panose="020B0604020202020204" charset="-122"/>
                <a:ea typeface="汉仪君黑-45简" panose="020B0604020202020204" charset="-122"/>
                <a:cs typeface="阿里巴巴普惠体 R" panose="00020600040101010101" pitchFamily="18" charset="-122"/>
                <a:sym typeface="+mn-lt"/>
              </a:rPr>
              <a:t>01</a:t>
            </a:r>
            <a:endParaRPr lang="en-US" altLang="zh-CN" sz="2665" dirty="0">
              <a:solidFill>
                <a:srgbClr val="3F5E80"/>
              </a:solidFill>
              <a:latin typeface="汉仪君黑-45简" panose="020B0604020202020204" charset="-122"/>
              <a:ea typeface="汉仪君黑-45简" panose="020B0604020202020204" charset="-122"/>
              <a:cs typeface="阿里巴巴普惠体 R" panose="00020600040101010101" pitchFamily="18" charset="-122"/>
              <a:sym typeface="+mn-lt"/>
            </a:endParaRPr>
          </a:p>
        </p:txBody>
      </p:sp>
      <p:sp>
        <p:nvSpPr>
          <p:cNvPr id="16" name="文本框54"/>
          <p:cNvSpPr>
            <a:spLocks noChangeArrowheads="1"/>
          </p:cNvSpPr>
          <p:nvPr/>
        </p:nvSpPr>
        <p:spPr bwMode="auto">
          <a:xfrm>
            <a:off x="5530427" y="2735580"/>
            <a:ext cx="649393" cy="5016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p>
            <a:pPr algn="ctr">
              <a:lnSpc>
                <a:spcPct val="100000"/>
              </a:lnSpc>
            </a:pPr>
            <a:r>
              <a:rPr lang="en-US" altLang="zh-CN" sz="2665" dirty="0">
                <a:solidFill>
                  <a:srgbClr val="3F5E80"/>
                </a:solidFill>
                <a:latin typeface="汉仪君黑-45简" panose="020B0604020202020204" charset="-122"/>
                <a:ea typeface="汉仪君黑-45简" panose="020B0604020202020204" charset="-122"/>
                <a:cs typeface="阿里巴巴普惠体 R" panose="00020600040101010101" pitchFamily="18" charset="-122"/>
                <a:sym typeface="+mn-lt"/>
              </a:rPr>
              <a:t>02</a:t>
            </a:r>
            <a:endParaRPr lang="en-US" altLang="zh-CN" sz="2665" dirty="0">
              <a:solidFill>
                <a:srgbClr val="3F5E80"/>
              </a:solidFill>
              <a:latin typeface="汉仪君黑-45简" panose="020B0604020202020204" charset="-122"/>
              <a:ea typeface="汉仪君黑-45简" panose="020B0604020202020204" charset="-122"/>
              <a:cs typeface="阿里巴巴普惠体 R" panose="00020600040101010101" pitchFamily="18" charset="-122"/>
              <a:sym typeface="+mn-lt"/>
            </a:endParaRPr>
          </a:p>
        </p:txBody>
      </p:sp>
      <p:sp>
        <p:nvSpPr>
          <p:cNvPr id="17" name="文本框 48"/>
          <p:cNvSpPr>
            <a:spLocks noChangeArrowheads="1"/>
          </p:cNvSpPr>
          <p:nvPr/>
        </p:nvSpPr>
        <p:spPr bwMode="auto">
          <a:xfrm>
            <a:off x="5530427" y="3671993"/>
            <a:ext cx="649393" cy="5016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p>
            <a:pPr algn="ctr">
              <a:lnSpc>
                <a:spcPct val="100000"/>
              </a:lnSpc>
            </a:pPr>
            <a:r>
              <a:rPr lang="en-US" altLang="zh-CN" sz="2665" dirty="0">
                <a:solidFill>
                  <a:srgbClr val="3F5E80"/>
                </a:solidFill>
                <a:latin typeface="汉仪君黑-45简" panose="020B0604020202020204" charset="-122"/>
                <a:ea typeface="汉仪君黑-45简" panose="020B0604020202020204" charset="-122"/>
                <a:cs typeface="阿里巴巴普惠体 R" panose="00020600040101010101" pitchFamily="18" charset="-122"/>
                <a:sym typeface="+mn-lt"/>
              </a:rPr>
              <a:t>03</a:t>
            </a:r>
            <a:endParaRPr lang="en-US" altLang="zh-CN" sz="2665" dirty="0">
              <a:solidFill>
                <a:srgbClr val="3F5E80"/>
              </a:solidFill>
              <a:latin typeface="汉仪君黑-45简" panose="020B0604020202020204" charset="-122"/>
              <a:ea typeface="汉仪君黑-45简" panose="020B0604020202020204" charset="-122"/>
              <a:cs typeface="阿里巴巴普惠体 R" panose="00020600040101010101" pitchFamily="18" charset="-122"/>
              <a:sym typeface="+mn-lt"/>
            </a:endParaRPr>
          </a:p>
        </p:txBody>
      </p:sp>
      <p:sp>
        <p:nvSpPr>
          <p:cNvPr id="18" name="文本框 49"/>
          <p:cNvSpPr>
            <a:spLocks noChangeArrowheads="1"/>
          </p:cNvSpPr>
          <p:nvPr/>
        </p:nvSpPr>
        <p:spPr bwMode="auto">
          <a:xfrm>
            <a:off x="5531273" y="4608407"/>
            <a:ext cx="649393" cy="5016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p>
            <a:pPr algn="ctr">
              <a:lnSpc>
                <a:spcPct val="100000"/>
              </a:lnSpc>
            </a:pPr>
            <a:r>
              <a:rPr lang="en-US" altLang="zh-CN" sz="2665" dirty="0">
                <a:solidFill>
                  <a:srgbClr val="3F5E80"/>
                </a:solidFill>
                <a:latin typeface="汉仪君黑-45简" panose="020B0604020202020204" charset="-122"/>
                <a:ea typeface="汉仪君黑-45简" panose="020B0604020202020204" charset="-122"/>
                <a:cs typeface="阿里巴巴普惠体 R" panose="00020600040101010101" pitchFamily="18" charset="-122"/>
                <a:sym typeface="+mn-lt"/>
              </a:rPr>
              <a:t>04</a:t>
            </a:r>
            <a:endParaRPr lang="en-US" altLang="zh-CN" sz="2665" dirty="0">
              <a:solidFill>
                <a:srgbClr val="3F5E80"/>
              </a:solidFill>
              <a:latin typeface="汉仪君黑-45简" panose="020B0604020202020204" charset="-122"/>
              <a:ea typeface="汉仪君黑-45简" panose="020B0604020202020204" charset="-122"/>
              <a:cs typeface="阿里巴巴普惠体 R" panose="00020600040101010101" pitchFamily="18" charset="-122"/>
              <a:sym typeface="+mn-lt"/>
            </a:endParaRPr>
          </a:p>
        </p:txBody>
      </p:sp>
      <p:sp>
        <p:nvSpPr>
          <p:cNvPr id="2" name="文本框 4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298565" y="5459095"/>
            <a:ext cx="1608455" cy="5016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p>
            <a:pPr>
              <a:lnSpc>
                <a:spcPct val="100000"/>
              </a:lnSpc>
            </a:pPr>
            <a:r>
              <a:rPr lang="zh-CN" altLang="en-US" sz="2665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阿里巴巴普惠体 R" panose="00020600040101010101" pitchFamily="18" charset="-122"/>
                <a:sym typeface="+mn-lt"/>
              </a:rPr>
              <a:t>未来计划</a:t>
            </a:r>
            <a:endParaRPr lang="en-US" altLang="zh-CN" sz="2665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阿里巴巴普惠体 R" panose="00020600040101010101" pitchFamily="18" charset="-122"/>
              <a:sym typeface="+mn-lt"/>
            </a:endParaRPr>
          </a:p>
        </p:txBody>
      </p:sp>
      <p:sp>
        <p:nvSpPr>
          <p:cNvPr id="19" name="文本框 4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531273" y="5459307"/>
            <a:ext cx="649393" cy="5016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p>
            <a:pPr algn="ctr">
              <a:lnSpc>
                <a:spcPct val="100000"/>
              </a:lnSpc>
            </a:pPr>
            <a:r>
              <a:rPr lang="en-US" altLang="zh-CN" sz="2665" dirty="0">
                <a:solidFill>
                  <a:srgbClr val="3F5E80"/>
                </a:solidFill>
                <a:latin typeface="汉仪君黑-45简" panose="020B0604020202020204" charset="-122"/>
                <a:ea typeface="汉仪君黑-45简" panose="020B0604020202020204" charset="-122"/>
                <a:cs typeface="阿里巴巴普惠体 R" panose="00020600040101010101" pitchFamily="18" charset="-122"/>
                <a:sym typeface="+mn-lt"/>
              </a:rPr>
              <a:t>05</a:t>
            </a:r>
            <a:endParaRPr lang="en-US" altLang="zh-CN" sz="2665" dirty="0">
              <a:solidFill>
                <a:srgbClr val="3F5E80"/>
              </a:solidFill>
              <a:latin typeface="汉仪君黑-45简" panose="020B0604020202020204" charset="-122"/>
              <a:ea typeface="汉仪君黑-45简" panose="020B0604020202020204" charset="-122"/>
              <a:cs typeface="阿里巴巴普惠体 R" panose="00020600040101010101" pitchFamily="18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211455" y="0"/>
            <a:ext cx="11980545" cy="68859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0" y="636"/>
            <a:ext cx="12192000" cy="68853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1424" y="1377348"/>
            <a:ext cx="53285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0" dirty="0">
                <a:solidFill>
                  <a:schemeClr val="bg1"/>
                </a:solidFill>
                <a:latin typeface="Arial Black" panose="020B0A04020102020204" pitchFamily="34" charset="0"/>
              </a:rPr>
              <a:t>01</a:t>
            </a:r>
            <a:endParaRPr lang="zh-CN" altLang="en-US" sz="26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标题 4"/>
          <p:cNvSpPr txBox="1"/>
          <p:nvPr/>
        </p:nvSpPr>
        <p:spPr>
          <a:xfrm>
            <a:off x="6096000" y="2708920"/>
            <a:ext cx="6480719" cy="1440159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教育背景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91" y="6001797"/>
            <a:ext cx="2600475" cy="6621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93" y="0"/>
            <a:ext cx="12184814" cy="686614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186" y="0"/>
            <a:ext cx="12184814" cy="6866143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2000"/>
                </a:schemeClr>
              </a:gs>
              <a:gs pos="100000">
                <a:schemeClr val="bg1">
                  <a:alpha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260648"/>
            <a:ext cx="3575720" cy="909391"/>
            <a:chOff x="0" y="260648"/>
            <a:chExt cx="3575720" cy="909391"/>
          </a:xfrm>
        </p:grpSpPr>
        <p:sp>
          <p:nvSpPr>
            <p:cNvPr id="6" name="矩形 5"/>
            <p:cNvSpPr/>
            <p:nvPr/>
          </p:nvSpPr>
          <p:spPr>
            <a:xfrm>
              <a:off x="0" y="374221"/>
              <a:ext cx="551384" cy="79208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B47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695400" y="260648"/>
              <a:ext cx="2880320" cy="909391"/>
              <a:chOff x="623392" y="310880"/>
              <a:chExt cx="2880320" cy="90939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23392" y="310880"/>
                <a:ext cx="1808480" cy="583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教育背景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623392" y="989439"/>
                <a:ext cx="2880320" cy="0"/>
              </a:xfrm>
              <a:prstGeom prst="line">
                <a:avLst/>
              </a:prstGeom>
              <a:ln w="28575">
                <a:gradFill flip="none" rotWithShape="1">
                  <a:gsLst>
                    <a:gs pos="0">
                      <a:srgbClr val="023FA1"/>
                    </a:gs>
                    <a:gs pos="9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本框 9"/>
              <p:cNvSpPr txBox="1"/>
              <p:nvPr/>
            </p:nvSpPr>
            <p:spPr>
              <a:xfrm>
                <a:off x="677820" y="989439"/>
                <a:ext cx="28258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DALIAN MARITIME UNIVERSITY</a:t>
                </a:r>
                <a:endParaRPr kumimoji="0" lang="en-US" altLang="zh-CN" sz="9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384" y="6411395"/>
            <a:ext cx="2020252" cy="422026"/>
          </a:xfrm>
          <a:prstGeom prst="rect">
            <a:avLst/>
          </a:prstGeom>
        </p:spPr>
      </p:pic>
      <p:sp>
        <p:nvSpPr>
          <p:cNvPr id="17" name="圆角矩形 18"/>
          <p:cNvSpPr/>
          <p:nvPr/>
        </p:nvSpPr>
        <p:spPr>
          <a:xfrm>
            <a:off x="479376" y="1484784"/>
            <a:ext cx="11220945" cy="4440353"/>
          </a:xfrm>
          <a:prstGeom prst="roundRect">
            <a:avLst>
              <a:gd name="adj" fmla="val 0"/>
            </a:avLst>
          </a:prstGeom>
          <a:solidFill>
            <a:srgbClr val="023FA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61663" y="1567582"/>
            <a:ext cx="11220945" cy="4446309"/>
            <a:chOff x="862841" y="1601133"/>
            <a:chExt cx="10027468" cy="4446309"/>
          </a:xfrm>
        </p:grpSpPr>
        <p:sp>
          <p:nvSpPr>
            <p:cNvPr id="19" name="圆角矩形 19"/>
            <p:cNvSpPr/>
            <p:nvPr/>
          </p:nvSpPr>
          <p:spPr>
            <a:xfrm>
              <a:off x="862841" y="1601133"/>
              <a:ext cx="10027468" cy="4446309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文本框 10"/>
            <p:cNvSpPr txBox="1">
              <a:spLocks noChangeArrowheads="1"/>
            </p:cNvSpPr>
            <p:nvPr/>
          </p:nvSpPr>
          <p:spPr bwMode="auto">
            <a:xfrm>
              <a:off x="4511045" y="2065318"/>
              <a:ext cx="6378823" cy="3517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姓名：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xxx			</a:t>
              </a:r>
              <a:r>
                <a:rPr lang="zh-CN" altLang="en-US" sz="1800" b="1" kern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sym typeface="+mn-ea"/>
                </a:rPr>
                <a:t>出生日期：</a:t>
              </a:r>
              <a:r>
                <a:rPr lang="en-US" altLang="zh-CN" sz="1800" b="1" kern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sym typeface="+mn-ea"/>
                </a:rPr>
                <a:t>xxxx</a:t>
              </a:r>
              <a:endPara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籍贯：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xx</a:t>
              </a:r>
              <a:r>
                <a:rPr kumimoji="0" lang="zh-CN" alt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省</a:t>
              </a:r>
              <a:r>
                <a:rPr kumimoji="0" lang="en-US" altLang="zh-CN" sz="180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xx</a:t>
              </a:r>
              <a:r>
                <a:rPr kumimoji="0" lang="zh-CN" alt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市</a:t>
              </a:r>
              <a:r>
                <a:rPr kumimoji="0" lang="en-US" altLang="zh-CN" sz="180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			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政治面貌</a:t>
              </a:r>
              <a:r>
                <a:rPr kumimoji="0" lang="zh-CN" alt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：预备党员</a:t>
              </a:r>
              <a:endParaRPr kumimoji="0" lang="zh-CN" altLang="en-US" sz="180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学校：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xx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大学（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211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，双一流）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院系：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xx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学院</a:t>
              </a:r>
              <a:endPara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专业：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xxxxx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			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职务：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xx</a:t>
              </a:r>
              <a:r>
                <a:rPr kumimoji="0" lang="zh-CN" alt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学社部长</a:t>
              </a:r>
              <a:r>
                <a:rPr kumimoji="0" lang="en-US" altLang="zh-CN" sz="180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/</a:t>
              </a:r>
              <a:r>
                <a:rPr kumimoji="0" lang="zh-CN" alt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班长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800" b="1" kern="0" dirty="0">
                  <a:solidFill>
                    <a:srgbClr val="404040"/>
                  </a:solidFill>
                </a:rPr>
                <a:t>平均</a:t>
              </a:r>
              <a:r>
                <a:rPr lang="en-US" altLang="zh-CN" sz="1800" b="1" kern="0" dirty="0">
                  <a:solidFill>
                    <a:srgbClr val="404040"/>
                  </a:solidFill>
                </a:rPr>
                <a:t>GPA</a:t>
              </a:r>
              <a:r>
                <a:rPr lang="zh-CN" altLang="en-US" sz="1800" b="1" kern="0" dirty="0">
                  <a:solidFill>
                    <a:srgbClr val="404040"/>
                  </a:solidFill>
                </a:rPr>
                <a:t>：</a:t>
              </a:r>
              <a:r>
                <a:rPr lang="en-US" altLang="zh-CN" sz="1800" b="1" kern="0" dirty="0">
                  <a:solidFill>
                    <a:srgbClr val="404040"/>
                  </a:solidFill>
                </a:rPr>
                <a:t>4.2/5.0		</a:t>
              </a:r>
              <a:r>
                <a:rPr lang="zh-CN" altLang="en-US" sz="1800" b="1" kern="0" dirty="0">
                  <a:solidFill>
                    <a:srgbClr val="404040"/>
                  </a:solidFill>
                </a:rPr>
                <a:t>单学期最高</a:t>
              </a:r>
              <a:r>
                <a:rPr lang="en-US" altLang="zh-CN" sz="1800" b="1" kern="0" dirty="0">
                  <a:solidFill>
                    <a:srgbClr val="404040"/>
                  </a:solidFill>
                </a:rPr>
                <a:t>GPA:  4.45</a:t>
              </a:r>
              <a:endParaRPr lang="en-US" altLang="zh-CN" sz="1800" kern="0" dirty="0">
                <a:solidFill>
                  <a:srgbClr val="404040"/>
                </a:solidFill>
              </a:endParaRPr>
            </a:p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成绩排名：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1</a:t>
              </a:r>
              <a:r>
                <a:rPr kumimoji="0" lang="en-US" altLang="zh-CN" sz="180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/90       		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外语能力：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四级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 xx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六级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xx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11" name="图片 8" descr="头像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35710" y="2032000"/>
            <a:ext cx="2681605" cy="3161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93" y="0"/>
            <a:ext cx="12184814" cy="686614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186" y="0"/>
            <a:ext cx="12184814" cy="6866143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2000"/>
                </a:schemeClr>
              </a:gs>
              <a:gs pos="100000">
                <a:schemeClr val="bg1">
                  <a:alpha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260648"/>
            <a:ext cx="3575720" cy="909391"/>
            <a:chOff x="0" y="260648"/>
            <a:chExt cx="3575720" cy="909391"/>
          </a:xfrm>
        </p:grpSpPr>
        <p:sp>
          <p:nvSpPr>
            <p:cNvPr id="6" name="矩形 5"/>
            <p:cNvSpPr/>
            <p:nvPr/>
          </p:nvSpPr>
          <p:spPr>
            <a:xfrm>
              <a:off x="0" y="374221"/>
              <a:ext cx="551384" cy="79208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B47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695400" y="260648"/>
              <a:ext cx="2880320" cy="909391"/>
              <a:chOff x="623392" y="310880"/>
              <a:chExt cx="2880320" cy="90939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23392" y="310880"/>
                <a:ext cx="1808480" cy="583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教育背景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623392" y="989439"/>
                <a:ext cx="2880320" cy="0"/>
              </a:xfrm>
              <a:prstGeom prst="line">
                <a:avLst/>
              </a:prstGeom>
              <a:ln w="28575">
                <a:gradFill flip="none" rotWithShape="1">
                  <a:gsLst>
                    <a:gs pos="0">
                      <a:srgbClr val="023FA1"/>
                    </a:gs>
                    <a:gs pos="9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本框 9"/>
              <p:cNvSpPr txBox="1"/>
              <p:nvPr/>
            </p:nvSpPr>
            <p:spPr>
              <a:xfrm>
                <a:off x="677820" y="989439"/>
                <a:ext cx="28258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DALIAN MARITIME UNIVERSITY</a:t>
                </a:r>
                <a:endParaRPr kumimoji="0" lang="en-US" altLang="zh-CN" sz="9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384" y="6411395"/>
            <a:ext cx="2020252" cy="422026"/>
          </a:xfrm>
          <a:prstGeom prst="rect">
            <a:avLst/>
          </a:prstGeom>
        </p:spPr>
      </p:pic>
      <p:sp>
        <p:nvSpPr>
          <p:cNvPr id="17" name="圆角矩形 18"/>
          <p:cNvSpPr/>
          <p:nvPr/>
        </p:nvSpPr>
        <p:spPr>
          <a:xfrm>
            <a:off x="479376" y="1484784"/>
            <a:ext cx="11220945" cy="4440353"/>
          </a:xfrm>
          <a:prstGeom prst="roundRect">
            <a:avLst>
              <a:gd name="adj" fmla="val 0"/>
            </a:avLst>
          </a:prstGeom>
          <a:solidFill>
            <a:srgbClr val="023FA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61663" y="1567582"/>
            <a:ext cx="11220945" cy="4446309"/>
            <a:chOff x="862841" y="1601133"/>
            <a:chExt cx="10027468" cy="4446309"/>
          </a:xfrm>
        </p:grpSpPr>
        <p:sp>
          <p:nvSpPr>
            <p:cNvPr id="19" name="圆角矩形 19"/>
            <p:cNvSpPr/>
            <p:nvPr/>
          </p:nvSpPr>
          <p:spPr>
            <a:xfrm>
              <a:off x="862841" y="1601133"/>
              <a:ext cx="10027468" cy="4446309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28575" cap="flat" cmpd="sng" algn="ctr">
              <a:solidFill>
                <a:srgbClr val="023FA1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文本框 10"/>
            <p:cNvSpPr txBox="1">
              <a:spLocks noChangeArrowheads="1"/>
            </p:cNvSpPr>
            <p:nvPr/>
          </p:nvSpPr>
          <p:spPr bwMode="auto">
            <a:xfrm>
              <a:off x="2366602" y="1730673"/>
              <a:ext cx="6143894" cy="3168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主修专业课程成绩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：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高等数学（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98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）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  			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线性代数（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99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）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概率论与数理统计（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95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）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		</a:t>
              </a:r>
              <a:r>
                <a:rPr lang="zh-CN" altLang="en-US" sz="1800" kern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sym typeface="+mn-ea"/>
                </a:rPr>
                <a:t>自动控制原理（95）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	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模拟电子技术基础（9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7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）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   		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数字电子技术基础（91）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传感器与检测技术（9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6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）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		</a:t>
              </a:r>
              <a:r>
                <a:rPr lang="zh-CN" altLang="en-US" sz="1800" kern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sym typeface="+mn-ea"/>
                </a:rPr>
                <a:t>信号与系统分析基础（98）</a:t>
              </a:r>
              <a:endParaRPr lang="zh-CN" altLang="en-US" sz="1800" kern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sym typeface="+mn-ea"/>
              </a:endParaRPr>
            </a:p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微型计算机原理与应用（95）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	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人工智能与机器学习（9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2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）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......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12975" y="4491355"/>
            <a:ext cx="8307070" cy="2419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200000"/>
              </a:lnSpc>
            </a:pPr>
            <a:r>
              <a:rPr kumimoji="1" lang="zh-CN" altLang="en-US" dirty="0"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大学三年累计</a:t>
            </a:r>
            <a:r>
              <a:rPr kumimoji="1" lang="en-US" altLang="zh-CN" dirty="0"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xx</a:t>
            </a:r>
            <a:r>
              <a:rPr kumimoji="1" lang="en-US" altLang="zh-CN" dirty="0">
                <a:solidFill>
                  <a:srgbClr val="C00000"/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门</a:t>
            </a:r>
            <a:r>
              <a:rPr kumimoji="1" lang="zh-CN" altLang="en-US" dirty="0"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课程</a:t>
            </a:r>
            <a:r>
              <a:rPr kumimoji="1" lang="en-US" altLang="zh-CN" dirty="0"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90</a:t>
            </a:r>
            <a:r>
              <a:rPr kumimoji="1" lang="en-US" altLang="zh-CN" dirty="0">
                <a:solidFill>
                  <a:srgbClr val="C00000"/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+ </a:t>
            </a:r>
            <a:r>
              <a:rPr kumimoji="1" lang="zh-CN" altLang="en-US" dirty="0">
                <a:solidFill>
                  <a:srgbClr val="C00000"/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，</a:t>
            </a:r>
            <a:r>
              <a:rPr kumimoji="1" lang="zh-CN" altLang="en-US" dirty="0"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其中</a:t>
            </a:r>
            <a:r>
              <a:rPr kumimoji="1" lang="en-US" altLang="zh-CN" dirty="0"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xx</a:t>
            </a:r>
            <a:r>
              <a:rPr kumimoji="1" lang="zh-CN" altLang="en-US" dirty="0">
                <a:solidFill>
                  <a:srgbClr val="C00000"/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门</a:t>
            </a:r>
            <a:r>
              <a:rPr kumimoji="1" lang="zh-CN" altLang="en-US" dirty="0"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课程</a:t>
            </a:r>
            <a:r>
              <a:rPr kumimoji="1" lang="en-US" altLang="zh-CN" dirty="0">
                <a:solidFill>
                  <a:srgbClr val="FF0000"/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95</a:t>
            </a:r>
            <a:r>
              <a:rPr kumimoji="1" lang="en-US" altLang="zh-CN" dirty="0">
                <a:solidFill>
                  <a:srgbClr val="C00000"/>
                </a:solidFill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+</a:t>
            </a:r>
            <a:endParaRPr kumimoji="1" lang="en-US" altLang="zh-CN" dirty="0">
              <a:solidFill>
                <a:srgbClr val="C00000"/>
              </a:solidFill>
              <a:latin typeface="思源宋体 CN Heavy" panose="02020900000000000000" pitchFamily="18" charset="-128"/>
              <a:ea typeface="思源宋体 CN Heavy" panose="02020900000000000000" pitchFamily="18" charset="-128"/>
            </a:endParaRPr>
          </a:p>
          <a:p>
            <a:pPr>
              <a:lnSpc>
                <a:spcPct val="200000"/>
              </a:lnSpc>
            </a:pPr>
            <a:r>
              <a:rPr kumimoji="1" lang="zh-CN" altLang="en-US" dirty="0"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精益求精是对理论学习的追求</a:t>
            </a:r>
            <a:r>
              <a:rPr kumimoji="1" lang="en-US" altLang="zh-CN" dirty="0">
                <a:latin typeface="思源宋体 CN Heavy" panose="02020900000000000000" pitchFamily="18" charset="-128"/>
                <a:ea typeface="思源宋体 CN Heavy" panose="02020900000000000000" pitchFamily="18" charset="-128"/>
                <a:sym typeface="+mn-ea"/>
              </a:rPr>
              <a:t> 	</a:t>
            </a:r>
            <a:r>
              <a:rPr lang="zh-CN" altLang="en-US">
                <a:sym typeface="+mn-ea"/>
              </a:rPr>
              <a:t>对电子、控制和机器人有着浓厚兴趣</a:t>
            </a:r>
            <a:endParaRPr lang="zh-CN" altLang="en-US"/>
          </a:p>
          <a:p>
            <a:pPr>
              <a:lnSpc>
                <a:spcPct val="200000"/>
              </a:lnSpc>
            </a:pP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854700" y="1866900"/>
            <a:ext cx="4425315" cy="1031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211455" y="0"/>
            <a:ext cx="11980545" cy="68859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0" y="1"/>
            <a:ext cx="12192000" cy="68853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1424" y="1377348"/>
            <a:ext cx="53285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0" dirty="0">
                <a:solidFill>
                  <a:schemeClr val="bg1"/>
                </a:solidFill>
                <a:latin typeface="Arial Black" panose="020B0A04020102020204" pitchFamily="34" charset="0"/>
              </a:rPr>
              <a:t>02</a:t>
            </a:r>
            <a:endParaRPr lang="zh-CN" altLang="en-US" sz="26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标题 4"/>
          <p:cNvSpPr txBox="1"/>
          <p:nvPr/>
        </p:nvSpPr>
        <p:spPr>
          <a:xfrm>
            <a:off x="6096000" y="2708920"/>
            <a:ext cx="6480719" cy="1440159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所获荣誉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91" y="6001797"/>
            <a:ext cx="2600475" cy="6621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6614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-12251"/>
            <a:ext cx="12192000" cy="688538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2000"/>
                </a:schemeClr>
              </a:gs>
              <a:gs pos="100000">
                <a:schemeClr val="bg1">
                  <a:alpha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大学期间优异成绩也得到学校认可，获得了XX、XX等多项荣誉奖励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0" y="260648"/>
            <a:ext cx="3575720" cy="909391"/>
            <a:chOff x="0" y="260648"/>
            <a:chExt cx="3575720" cy="909391"/>
          </a:xfrm>
        </p:grpSpPr>
        <p:sp>
          <p:nvSpPr>
            <p:cNvPr id="28" name="矩形 27"/>
            <p:cNvSpPr/>
            <p:nvPr/>
          </p:nvSpPr>
          <p:spPr>
            <a:xfrm>
              <a:off x="0" y="374221"/>
              <a:ext cx="551384" cy="79208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B47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695400" y="260648"/>
              <a:ext cx="2880320" cy="909391"/>
              <a:chOff x="623392" y="310880"/>
              <a:chExt cx="2880320" cy="909391"/>
            </a:xfrm>
          </p:grpSpPr>
          <p:sp>
            <p:nvSpPr>
              <p:cNvPr id="30" name="文本框 29"/>
              <p:cNvSpPr txBox="1"/>
              <p:nvPr/>
            </p:nvSpPr>
            <p:spPr>
              <a:xfrm>
                <a:off x="623392" y="310880"/>
                <a:ext cx="1808480" cy="583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所获荣誉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>
                <a:off x="623392" y="989439"/>
                <a:ext cx="2880320" cy="0"/>
              </a:xfrm>
              <a:prstGeom prst="line">
                <a:avLst/>
              </a:prstGeom>
              <a:ln w="28575">
                <a:gradFill flip="none" rotWithShape="1">
                  <a:gsLst>
                    <a:gs pos="0">
                      <a:srgbClr val="023FA1"/>
                    </a:gs>
                    <a:gs pos="9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本框 31"/>
              <p:cNvSpPr txBox="1"/>
              <p:nvPr/>
            </p:nvSpPr>
            <p:spPr>
              <a:xfrm>
                <a:off x="677820" y="989439"/>
                <a:ext cx="28258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DALIAN MARITIME UNIVERSITY</a:t>
                </a:r>
                <a:endParaRPr kumimoji="0" lang="en-US" altLang="zh-CN" sz="9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384" y="6398695"/>
            <a:ext cx="2020252" cy="422026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578485" y="1358900"/>
            <a:ext cx="10827385" cy="2495550"/>
            <a:chOff x="551384" y="3714081"/>
            <a:chExt cx="10827668" cy="2246166"/>
          </a:xfrm>
        </p:grpSpPr>
        <p:sp>
          <p:nvSpPr>
            <p:cNvPr id="20" name="矩形 19"/>
            <p:cNvSpPr/>
            <p:nvPr/>
          </p:nvSpPr>
          <p:spPr>
            <a:xfrm>
              <a:off x="551384" y="3905548"/>
              <a:ext cx="10816873" cy="2054699"/>
            </a:xfrm>
            <a:prstGeom prst="rect">
              <a:avLst/>
            </a:prstGeom>
            <a:noFill/>
            <a:ln w="12700" cap="flat" cmpd="sng" algn="ctr">
              <a:solidFill>
                <a:srgbClr val="333333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94854" y="4145954"/>
              <a:ext cx="10540622" cy="1700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defTabSz="914400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国家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奖学金 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			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（2022.12）</a:t>
              </a:r>
              <a:endParaRPr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indent="-285750" defTabSz="914400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国家励志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奖学金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		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（202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.1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）</a:t>
              </a:r>
              <a:endParaRPr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indent="-285750" defTabSz="914400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“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xxx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”荣誉称号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		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（2022.12）</a:t>
              </a:r>
              <a:endParaRPr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indent="-285750" defTabSz="914400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xxx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竞赛</a:t>
              </a:r>
              <a:r>
                <a:rPr 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奖学金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			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（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2023.11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）</a:t>
              </a:r>
              <a:endParaRPr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indent="-285750" defTabSz="914400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......				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（202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.1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，202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.12）</a:t>
              </a:r>
              <a:endParaRPr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51384" y="3714081"/>
              <a:ext cx="1820194" cy="360547"/>
            </a:xfrm>
            <a:prstGeom prst="rect">
              <a:avLst/>
            </a:prstGeom>
            <a:solidFill>
              <a:srgbClr val="8F000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51384" y="3714081"/>
              <a:ext cx="1820194" cy="33149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FFFF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荣誉</a:t>
              </a:r>
              <a:r>
                <a:rPr lang="zh-CN" altLang="en-US" dirty="0">
                  <a:solidFill>
                    <a:srgbClr val="FFFF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奖励</a:t>
              </a:r>
              <a:endParaRPr lang="zh-CN" altLang="en-US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1" name="等腰三角形 40"/>
            <p:cNvSpPr/>
            <p:nvPr/>
          </p:nvSpPr>
          <p:spPr>
            <a:xfrm>
              <a:off x="11235275" y="5406158"/>
              <a:ext cx="143777" cy="123946"/>
            </a:xfrm>
            <a:prstGeom prst="triangle">
              <a:avLst>
                <a:gd name="adj" fmla="val 100000"/>
              </a:avLst>
            </a:prstGeom>
            <a:solidFill>
              <a:srgbClr val="023FA1">
                <a:alpha val="7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7" name="图片 6" descr="国励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530" y="4039870"/>
            <a:ext cx="3762375" cy="2705100"/>
          </a:xfrm>
          <a:prstGeom prst="rect">
            <a:avLst/>
          </a:prstGeom>
        </p:spPr>
      </p:pic>
      <p:pic>
        <p:nvPicPr>
          <p:cNvPr id="10" name="图片 9" descr="国励2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767955" y="4070985"/>
            <a:ext cx="3762375" cy="2705100"/>
          </a:xfrm>
          <a:prstGeom prst="rect">
            <a:avLst/>
          </a:prstGeom>
        </p:spPr>
      </p:pic>
      <p:pic>
        <p:nvPicPr>
          <p:cNvPr id="12" name="图片 11" descr="国励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8485" y="3971925"/>
            <a:ext cx="3762375" cy="2705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6614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-13521"/>
            <a:ext cx="12192000" cy="688538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2000"/>
                </a:schemeClr>
              </a:gs>
              <a:gs pos="100000">
                <a:schemeClr val="bg1">
                  <a:alpha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0" y="260648"/>
            <a:ext cx="3575720" cy="909391"/>
            <a:chOff x="0" y="260648"/>
            <a:chExt cx="3575720" cy="909391"/>
          </a:xfrm>
        </p:grpSpPr>
        <p:sp>
          <p:nvSpPr>
            <p:cNvPr id="28" name="矩形 27"/>
            <p:cNvSpPr/>
            <p:nvPr/>
          </p:nvSpPr>
          <p:spPr>
            <a:xfrm>
              <a:off x="0" y="374221"/>
              <a:ext cx="551384" cy="79208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B47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695400" y="260648"/>
              <a:ext cx="2880320" cy="909391"/>
              <a:chOff x="623392" y="310880"/>
              <a:chExt cx="2880320" cy="909391"/>
            </a:xfrm>
          </p:grpSpPr>
          <p:sp>
            <p:nvSpPr>
              <p:cNvPr id="30" name="文本框 29"/>
              <p:cNvSpPr txBox="1"/>
              <p:nvPr/>
            </p:nvSpPr>
            <p:spPr>
              <a:xfrm>
                <a:off x="623392" y="310880"/>
                <a:ext cx="18261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科研竞赛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>
                <a:off x="623392" y="989439"/>
                <a:ext cx="2880320" cy="0"/>
              </a:xfrm>
              <a:prstGeom prst="line">
                <a:avLst/>
              </a:prstGeom>
              <a:ln w="28575">
                <a:gradFill flip="none" rotWithShape="1">
                  <a:gsLst>
                    <a:gs pos="0">
                      <a:srgbClr val="023FA1"/>
                    </a:gs>
                    <a:gs pos="9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本框 31"/>
              <p:cNvSpPr txBox="1"/>
              <p:nvPr/>
            </p:nvSpPr>
            <p:spPr>
              <a:xfrm>
                <a:off x="677820" y="989439"/>
                <a:ext cx="28258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DALIAN MARITIME UNIVERSITY</a:t>
                </a:r>
                <a:endParaRPr kumimoji="0" lang="en-US" altLang="zh-CN" sz="9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384" y="6398695"/>
            <a:ext cx="2020252" cy="422026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713309" y="1204345"/>
            <a:ext cx="10801985" cy="3225165"/>
            <a:chOff x="551384" y="1412776"/>
            <a:chExt cx="10801985" cy="2858535"/>
          </a:xfrm>
        </p:grpSpPr>
        <p:sp>
          <p:nvSpPr>
            <p:cNvPr id="16" name="矩形 15"/>
            <p:cNvSpPr/>
            <p:nvPr/>
          </p:nvSpPr>
          <p:spPr>
            <a:xfrm>
              <a:off x="551384" y="1597942"/>
              <a:ext cx="10801350" cy="2673369"/>
            </a:xfrm>
            <a:prstGeom prst="rect">
              <a:avLst/>
            </a:prstGeom>
            <a:noFill/>
            <a:ln w="12700" cap="flat" cmpd="sng" algn="ctr">
              <a:solidFill>
                <a:srgbClr val="333333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51384" y="1694746"/>
              <a:ext cx="10801985" cy="244261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 defTabSz="914400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第十四届蓝桥杯 全国软件和信息技术专业人才大赛    全国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一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等奖        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工业和信息化部人才交流中心</a:t>
              </a:r>
              <a:endParaRPr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indent="-285750" defTabSz="914400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202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年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xxx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机器人开发者大赛全国赛</a:t>
              </a:r>
              <a:r>
                <a:rPr 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（队长）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	  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全国二等奖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       	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工业和信息化部人才交流中心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indent="-285750" defTabSz="914400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第十</a:t>
              </a:r>
              <a:r>
                <a:rPr 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六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届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xxx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仿真技术大赛</a:t>
              </a:r>
              <a:r>
                <a:rPr 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（主力）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	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  	  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全国三等奖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       	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中国仿真学会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indent="-285750" defTabSz="914400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第</a:t>
              </a:r>
              <a:r>
                <a:rPr 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七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届全国大学生嵌入式芯片与系统设计竞赛应用赛道北部赛区 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 xx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赛区</a:t>
              </a:r>
              <a:r>
                <a:rPr 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一</a:t>
              </a:r>
              <a:r>
                <a:rPr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等奖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 	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全国电子学会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indent="-285750" defTabSz="914400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xx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年全国大学生数学建模竞赛	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  		  xx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省二等奖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        	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中国工业与应用数学学会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indent="-285750" defTabSz="914400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等共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x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项国家级奖项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，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x</a:t>
              </a: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项省级奖项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，其他校级奖项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xx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余项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indent="-285750" defTabSz="914400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551384" y="1412776"/>
              <a:ext cx="1820194" cy="360547"/>
            </a:xfrm>
            <a:prstGeom prst="rect">
              <a:avLst/>
            </a:prstGeom>
            <a:solidFill>
              <a:srgbClr val="8F000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51384" y="1412776"/>
              <a:ext cx="1820194" cy="32643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FFFF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竞赛</a:t>
              </a:r>
              <a:endParaRPr lang="zh-CN" altLang="en-US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0" name="等腰三角形 39"/>
            <p:cNvSpPr/>
            <p:nvPr/>
          </p:nvSpPr>
          <p:spPr>
            <a:xfrm>
              <a:off x="11203588" y="4132018"/>
              <a:ext cx="143777" cy="123946"/>
            </a:xfrm>
            <a:prstGeom prst="triangle">
              <a:avLst>
                <a:gd name="adj" fmla="val 100000"/>
              </a:avLst>
            </a:prstGeom>
            <a:solidFill>
              <a:srgbClr val="023FA1">
                <a:alpha val="7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04378" y="4535811"/>
            <a:ext cx="10817225" cy="1602936"/>
            <a:chOff x="551343" y="3714081"/>
            <a:chExt cx="10817225" cy="1289346"/>
          </a:xfrm>
        </p:grpSpPr>
        <p:sp>
          <p:nvSpPr>
            <p:cNvPr id="20" name="矩形 19"/>
            <p:cNvSpPr/>
            <p:nvPr/>
          </p:nvSpPr>
          <p:spPr>
            <a:xfrm>
              <a:off x="551343" y="3905620"/>
              <a:ext cx="10817225" cy="1092030"/>
            </a:xfrm>
            <a:prstGeom prst="rect">
              <a:avLst/>
            </a:prstGeom>
            <a:noFill/>
            <a:ln w="12700" cap="flat" cmpd="sng" algn="ctr">
              <a:solidFill>
                <a:srgbClr val="333333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60233" y="4095391"/>
              <a:ext cx="10540622" cy="651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defTabSz="914400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2023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年大学生创新创业训练项目（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xxx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）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		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负责人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		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国家级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indent="-285750" defTabSz="914400">
                <a:lnSpc>
                  <a:spcPct val="130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2024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年大学生创新创业训练项目（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xxx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）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		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主力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		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省级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51343" y="3714081"/>
              <a:ext cx="2764790" cy="360605"/>
            </a:xfrm>
            <a:prstGeom prst="rect">
              <a:avLst/>
            </a:prstGeom>
            <a:solidFill>
              <a:srgbClr val="8F000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51343" y="3714081"/>
              <a:ext cx="2765425" cy="29624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FFFF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大学生创新创业训练项目</a:t>
              </a:r>
              <a:endParaRPr lang="zh-CN" altLang="en-US" dirty="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1" name="等腰三角形 40"/>
            <p:cNvSpPr/>
            <p:nvPr/>
          </p:nvSpPr>
          <p:spPr>
            <a:xfrm>
              <a:off x="11207335" y="4879481"/>
              <a:ext cx="143777" cy="123946"/>
            </a:xfrm>
            <a:prstGeom prst="triangle">
              <a:avLst>
                <a:gd name="adj" fmla="val 100000"/>
              </a:avLst>
            </a:prstGeom>
            <a:solidFill>
              <a:srgbClr val="023FA1">
                <a:alpha val="7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6614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2700" y="-13521"/>
            <a:ext cx="12192000" cy="688538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2000"/>
                </a:schemeClr>
              </a:gs>
              <a:gs pos="100000">
                <a:schemeClr val="bg1">
                  <a:alpha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通过比赛，一方面提升创新、实践、表达能力，另一方面也锻炼了自己的项目组织及团队协作能力”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0" y="260648"/>
            <a:ext cx="3575720" cy="909391"/>
            <a:chOff x="0" y="260648"/>
            <a:chExt cx="3575720" cy="909391"/>
          </a:xfrm>
        </p:grpSpPr>
        <p:sp>
          <p:nvSpPr>
            <p:cNvPr id="28" name="矩形 27"/>
            <p:cNvSpPr/>
            <p:nvPr/>
          </p:nvSpPr>
          <p:spPr>
            <a:xfrm>
              <a:off x="0" y="374221"/>
              <a:ext cx="551384" cy="79208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B47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695400" y="260648"/>
              <a:ext cx="2880320" cy="909391"/>
              <a:chOff x="623392" y="310880"/>
              <a:chExt cx="2880320" cy="909391"/>
            </a:xfrm>
          </p:grpSpPr>
          <p:sp>
            <p:nvSpPr>
              <p:cNvPr id="30" name="文本框 29"/>
              <p:cNvSpPr txBox="1"/>
              <p:nvPr/>
            </p:nvSpPr>
            <p:spPr>
              <a:xfrm>
                <a:off x="623392" y="310880"/>
                <a:ext cx="182614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科研竞赛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>
                <a:off x="623392" y="989439"/>
                <a:ext cx="2880320" cy="0"/>
              </a:xfrm>
              <a:prstGeom prst="line">
                <a:avLst/>
              </a:prstGeom>
              <a:ln w="28575">
                <a:gradFill flip="none" rotWithShape="1">
                  <a:gsLst>
                    <a:gs pos="0">
                      <a:srgbClr val="023FA1"/>
                    </a:gs>
                    <a:gs pos="9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本框 31"/>
              <p:cNvSpPr txBox="1"/>
              <p:nvPr/>
            </p:nvSpPr>
            <p:spPr>
              <a:xfrm>
                <a:off x="677820" y="989439"/>
                <a:ext cx="28258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DALIAN MARITIME UNIVERSITY</a:t>
                </a:r>
                <a:endParaRPr kumimoji="0" lang="en-US" altLang="zh-CN" sz="9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14" name="图片 13" descr="蓝桥杯国赛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145" y="53340"/>
            <a:ext cx="2887345" cy="4086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83235" y="1325245"/>
            <a:ext cx="4069715" cy="2657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83235" y="3982720"/>
            <a:ext cx="4069715" cy="2657475"/>
          </a:xfrm>
          <a:prstGeom prst="rect">
            <a:avLst/>
          </a:prstGeom>
        </p:spPr>
      </p:pic>
      <p:pic>
        <p:nvPicPr>
          <p:cNvPr id="6" name="图片 5" descr="蓝桥杯国赛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55510" y="53340"/>
            <a:ext cx="2887345" cy="4086225"/>
          </a:xfrm>
          <a:prstGeom prst="rect">
            <a:avLst/>
          </a:prstGeom>
        </p:spPr>
      </p:pic>
      <p:pic>
        <p:nvPicPr>
          <p:cNvPr id="7" name="图片 6" descr="蓝桥杯国赛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52950" y="4049395"/>
            <a:ext cx="1906905" cy="2698750"/>
          </a:xfrm>
          <a:prstGeom prst="rect">
            <a:avLst/>
          </a:prstGeom>
        </p:spPr>
      </p:pic>
      <p:pic>
        <p:nvPicPr>
          <p:cNvPr id="11" name="图片 10" descr="蓝桥杯国赛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034905" y="4049395"/>
            <a:ext cx="1906905" cy="2698750"/>
          </a:xfrm>
          <a:prstGeom prst="rect">
            <a:avLst/>
          </a:prstGeom>
        </p:spPr>
      </p:pic>
      <p:pic>
        <p:nvPicPr>
          <p:cNvPr id="12" name="图片 11" descr="蓝桥杯国赛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06515" y="4049395"/>
            <a:ext cx="1906905" cy="2698750"/>
          </a:xfrm>
          <a:prstGeom prst="rect">
            <a:avLst/>
          </a:prstGeom>
        </p:spPr>
      </p:pic>
      <p:pic>
        <p:nvPicPr>
          <p:cNvPr id="13" name="图片 12" descr="蓝桥杯国赛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35950" y="4049395"/>
            <a:ext cx="1906905" cy="2698750"/>
          </a:xfrm>
          <a:prstGeom prst="rect">
            <a:avLst/>
          </a:prstGeom>
        </p:spPr>
      </p:pic>
      <p:pic>
        <p:nvPicPr>
          <p:cNvPr id="15" name="图片 14" descr="蓝桥杯国赛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034905" y="1325245"/>
            <a:ext cx="1906905" cy="2698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211455" y="0"/>
            <a:ext cx="11980545" cy="68859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0" y="1"/>
            <a:ext cx="12192000" cy="68853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1424" y="1377348"/>
            <a:ext cx="5328592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0" dirty="0">
                <a:solidFill>
                  <a:schemeClr val="bg1"/>
                </a:solidFill>
                <a:latin typeface="Arial Black" panose="020B0A04020102020204" pitchFamily="34" charset="0"/>
              </a:rPr>
              <a:t>03</a:t>
            </a:r>
            <a:endParaRPr lang="zh-CN" altLang="en-US" sz="26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标题 4"/>
          <p:cNvSpPr txBox="1"/>
          <p:nvPr/>
        </p:nvSpPr>
        <p:spPr>
          <a:xfrm>
            <a:off x="6096000" y="2708920"/>
            <a:ext cx="6480719" cy="1440159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实践项目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91" y="6001797"/>
            <a:ext cx="2600475" cy="6621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6614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97547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2000"/>
                </a:schemeClr>
              </a:gs>
              <a:gs pos="100000">
                <a:schemeClr val="bg1">
                  <a:alpha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384" y="6398695"/>
            <a:ext cx="2020252" cy="42202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1180" y="1352550"/>
            <a:ext cx="110470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输油管巡检水上机器人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</a:t>
            </a:r>
            <a:r>
              <a:rPr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中国大学生工程实践与创新能力大赛</a:t>
            </a: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		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xxx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年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月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-xxxx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年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.x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月</a:t>
            </a:r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b="1"/>
              <a:t>项目介绍</a:t>
            </a:r>
            <a:r>
              <a:rPr lang="zh-CN" altLang="en-US"/>
              <a:t>：采用STM32,</a:t>
            </a:r>
            <a:r>
              <a:rPr lang="en-US" altLang="zh-CN"/>
              <a:t>Jetson-nano</a:t>
            </a:r>
            <a:r>
              <a:rPr lang="zh-CN" altLang="en-US"/>
              <a:t>,arduino分别作为主控，具有视觉采集模块，报警模块，使机器人能够巡检输油管道，在漏点处报警并统计漏油点数量在屏幕上显示。</a:t>
            </a:r>
            <a:endParaRPr lang="zh-CN" altLang="en-US"/>
          </a:p>
          <a:p>
            <a:r>
              <a:rPr lang="zh-CN" altLang="en-US" b="1"/>
              <a:t>主要负责</a:t>
            </a:r>
            <a:r>
              <a:rPr lang="zh-CN" altLang="en-US"/>
              <a:t>：在STM32</a:t>
            </a:r>
            <a:r>
              <a:rPr lang="en-US" altLang="zh-CN"/>
              <a:t>F4</a:t>
            </a:r>
            <a:r>
              <a:rPr lang="zh-CN" altLang="en-US"/>
              <a:t>单片机上编写PID控制算法，实现平稳巡线，姿态调整功能，编写上下位机接口，完成通信。在Jetson-Nano上利用</a:t>
            </a:r>
            <a:r>
              <a:rPr lang="en-US" altLang="zh-CN"/>
              <a:t>opencv</a:t>
            </a:r>
            <a:r>
              <a:rPr lang="zh-CN" altLang="en-US"/>
              <a:t>进行图像处理，识别漏油点。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l="25108" t="2240" b="12203"/>
          <a:stretch>
            <a:fillRect/>
          </a:stretch>
        </p:blipFill>
        <p:spPr>
          <a:xfrm>
            <a:off x="729615" y="3032760"/>
            <a:ext cx="3291205" cy="281495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0" y="260648"/>
            <a:ext cx="3575720" cy="909391"/>
            <a:chOff x="0" y="260648"/>
            <a:chExt cx="3575720" cy="909391"/>
          </a:xfrm>
        </p:grpSpPr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0" y="374221"/>
              <a:ext cx="551384" cy="79208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B47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695400" y="260648"/>
              <a:ext cx="2880320" cy="909391"/>
              <a:chOff x="623392" y="310880"/>
              <a:chExt cx="2880320" cy="909391"/>
            </a:xfrm>
          </p:grpSpPr>
          <p:sp>
            <p:nvSpPr>
              <p:cNvPr id="46" name="文本框 4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23392" y="310880"/>
                <a:ext cx="1808480" cy="583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项目</a:t>
                </a: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经历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  <p:cxnSp>
            <p:nvCxnSpPr>
              <p:cNvPr id="47" name="直接连接符 46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623392" y="989439"/>
                <a:ext cx="2880320" cy="0"/>
              </a:xfrm>
              <a:prstGeom prst="line">
                <a:avLst/>
              </a:prstGeom>
              <a:ln w="28575">
                <a:gradFill flip="none" rotWithShape="1">
                  <a:gsLst>
                    <a:gs pos="0">
                      <a:srgbClr val="023FA1"/>
                    </a:gs>
                    <a:gs pos="9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77820" y="989439"/>
                <a:ext cx="28258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DALIAN MARITIME UNIVERSITY</a:t>
                </a:r>
                <a:endParaRPr kumimoji="0" lang="en-US" altLang="zh-CN" sz="9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2" name="图片 1" descr="3f81e36233fd8c96cc86ad1a6c6293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3370" t="9683" r="13829" b="10074"/>
          <a:stretch>
            <a:fillRect/>
          </a:stretch>
        </p:blipFill>
        <p:spPr>
          <a:xfrm>
            <a:off x="7729220" y="3028950"/>
            <a:ext cx="3871595" cy="2813685"/>
          </a:xfrm>
          <a:prstGeom prst="rect">
            <a:avLst/>
          </a:prstGeom>
        </p:spPr>
      </p:pic>
      <p:pic>
        <p:nvPicPr>
          <p:cNvPr id="11" name="图片 10" descr="b7e3d7e5a5175daace35351fafc2c8c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b="2112"/>
          <a:stretch>
            <a:fillRect/>
          </a:stretch>
        </p:blipFill>
        <p:spPr>
          <a:xfrm>
            <a:off x="4003040" y="3029585"/>
            <a:ext cx="3726180" cy="2821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-635" y="-635"/>
            <a:ext cx="12192635" cy="68586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同学你好，</a:t>
            </a:r>
            <a:endParaRPr lang="zh-CN" altLang="en-US"/>
          </a:p>
          <a:p>
            <a:pPr algn="ctr"/>
            <a:r>
              <a:rPr lang="zh-CN" altLang="en-US"/>
              <a:t>账户： 1016184412@qq.com</a:t>
            </a:r>
            <a:endParaRPr lang="zh-CN" altLang="en-US"/>
          </a:p>
          <a:p>
            <a:pPr algn="ctr"/>
            <a:r>
              <a:rPr lang="zh-CN" altLang="en-US"/>
              <a:t>密码： 2022mcm</a:t>
            </a:r>
            <a:endParaRPr lang="zh-CN" altLang="en-US"/>
          </a:p>
          <a:p>
            <a:pPr algn="ctr"/>
            <a:r>
              <a:rPr lang="zh-CN" altLang="en-US"/>
              <a:t>控制号： 2206510   （一个账号下有多个控制号，务必记住自己的）巡线示意图</a:t>
            </a:r>
            <a:endParaRPr lang="zh-CN" altLang="en-US"/>
          </a:p>
          <a:p>
            <a:pPr algn="ctr"/>
            <a:r>
              <a:rPr lang="zh-CN" altLang="en-US"/>
              <a:t>1. 打开网址 https://www.comap.com/undergraduate/contests/，使用上述用户名和密码登录 Advisor Login</a:t>
            </a:r>
            <a:endParaRPr lang="zh-CN" altLang="en-US"/>
          </a:p>
          <a:p>
            <a:pPr algn="ctr"/>
            <a:r>
              <a:rPr lang="zh-CN" altLang="en-US"/>
              <a:t>2. 找到自己队伍的控制号，检查本队队员信息！（正式比赛也在此账号下进行选题、论文提交等环节！）</a:t>
            </a:r>
            <a:endParaRPr lang="zh-CN" altLang="en-US"/>
          </a:p>
          <a:p>
            <a:pPr algn="ctr"/>
            <a:r>
              <a:rPr lang="zh-CN" altLang="en-US"/>
              <a:t>3. 密码不许改！！！！其他队伍、指导教师的信息不要动!!!!! </a:t>
            </a:r>
            <a:endParaRPr lang="zh-CN" altLang="en-US"/>
          </a:p>
          <a:p>
            <a:pPr algn="ctr"/>
            <a:r>
              <a:rPr lang="zh-CN" altLang="en-US"/>
              <a:t>4. 信息无误后，进入 Verify Certificate Information，点击“Accept values”</a:t>
            </a:r>
            <a:endParaRPr lang="zh-CN" altLang="en-US"/>
          </a:p>
          <a:p>
            <a:pPr algn="ctr"/>
            <a:r>
              <a:rPr lang="zh-CN" altLang="en-US"/>
              <a:t>如有问题联系QQ  </a:t>
            </a:r>
            <a:endParaRPr lang="zh-CN" altLang="en-US"/>
          </a:p>
          <a:p>
            <a:pPr algn="ctr"/>
            <a:r>
              <a:rPr lang="zh-CN" altLang="en-US"/>
              <a:t>祝取得好成绩！</a:t>
            </a:r>
            <a:endParaRPr lang="zh-CN" altLang="en-US"/>
          </a:p>
          <a:p>
            <a:pPr algn="ctr"/>
            <a:r>
              <a:rPr lang="zh-CN" altLang="en-US"/>
              <a:t>海事大学数模指导组</a:t>
            </a:r>
            <a:endParaRPr lang="zh-CN" altLang="en-US"/>
          </a:p>
        </p:txBody>
      </p:sp>
      <p:grpSp>
        <p:nvGrpSpPr>
          <p:cNvPr id="42" name="组合 41"/>
          <p:cNvGrpSpPr/>
          <p:nvPr/>
        </p:nvGrpSpPr>
        <p:grpSpPr>
          <a:xfrm>
            <a:off x="195580" y="1166495"/>
            <a:ext cx="6401435" cy="5371465"/>
            <a:chOff x="3102" y="1849"/>
            <a:chExt cx="10081" cy="8459"/>
          </a:xfrm>
        </p:grpSpPr>
        <p:pic>
          <p:nvPicPr>
            <p:cNvPr id="6" name="图片 5" descr="5099999c255176e943e2c243e094973"/>
            <p:cNvPicPr>
              <a:picLocks noChangeAspect="1"/>
            </p:cNvPicPr>
            <p:nvPr/>
          </p:nvPicPr>
          <p:blipFill>
            <a:blip r:embed="rId1"/>
            <a:srcRect l="11025" t="773" r="6961"/>
            <a:stretch>
              <a:fillRect/>
            </a:stretch>
          </p:blipFill>
          <p:spPr>
            <a:xfrm>
              <a:off x="5987" y="3634"/>
              <a:ext cx="6312" cy="5665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8086" y="4953"/>
              <a:ext cx="1158" cy="89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7074" y="5851"/>
              <a:ext cx="882" cy="10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7158" y="6125"/>
              <a:ext cx="928" cy="118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8358" y="5911"/>
              <a:ext cx="885" cy="95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9244" y="5513"/>
              <a:ext cx="606" cy="6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9022" y="6210"/>
              <a:ext cx="678" cy="109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11008" y="5768"/>
              <a:ext cx="1158" cy="97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H="1">
              <a:off x="5576" y="7008"/>
              <a:ext cx="1563" cy="1402"/>
            </a:xfrm>
            <a:prstGeom prst="straightConnector1">
              <a:avLst/>
            </a:prstGeom>
            <a:ln w="15875" cmpd="sng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3311" y="8378"/>
              <a:ext cx="226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Jetson Nano</a:t>
              </a:r>
              <a:endParaRPr lang="en-US" altLang="zh-CN" sz="1600"/>
            </a:p>
            <a:p>
              <a:r>
                <a:rPr lang="zh-CN" altLang="en-US" sz="1600"/>
                <a:t>处理视觉</a:t>
              </a:r>
              <a:r>
                <a:rPr lang="zh-CN" altLang="en-US" sz="1600"/>
                <a:t>任务</a:t>
              </a:r>
              <a:endParaRPr lang="zh-CN" altLang="en-US" sz="1600"/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H="1">
              <a:off x="5194" y="6359"/>
              <a:ext cx="1880" cy="4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3102" y="6015"/>
              <a:ext cx="2357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/>
                <a:t>串口</a:t>
              </a:r>
              <a:r>
                <a:rPr lang="zh-CN" altLang="en-US" sz="1600"/>
                <a:t>屏</a:t>
              </a:r>
              <a:endParaRPr lang="zh-CN" altLang="en-US" sz="1600"/>
            </a:p>
            <a:p>
              <a:r>
                <a:rPr lang="zh-CN" altLang="en-US" sz="1600"/>
                <a:t>显示漏点</a:t>
              </a:r>
              <a:r>
                <a:rPr lang="zh-CN" altLang="en-US" sz="1600"/>
                <a:t>数量</a:t>
              </a:r>
              <a:endParaRPr lang="zh-CN" altLang="en-US" sz="1600"/>
            </a:p>
          </p:txBody>
        </p:sp>
        <p:cxnSp>
          <p:nvCxnSpPr>
            <p:cNvPr id="28" name="直接箭头连接符 27"/>
            <p:cNvCxnSpPr>
              <a:stCxn id="22" idx="0"/>
              <a:endCxn id="29" idx="2"/>
            </p:cNvCxnSpPr>
            <p:nvPr/>
          </p:nvCxnSpPr>
          <p:spPr>
            <a:xfrm flipH="1" flipV="1">
              <a:off x="7623" y="2768"/>
              <a:ext cx="1042" cy="218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6444" y="2237"/>
              <a:ext cx="235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/>
                <a:t>电源</a:t>
              </a:r>
              <a:endParaRPr lang="zh-CN" altLang="en-US" sz="1600"/>
            </a:p>
          </p:txBody>
        </p:sp>
        <p:cxnSp>
          <p:nvCxnSpPr>
            <p:cNvPr id="30" name="直接箭头连接符 29"/>
            <p:cNvCxnSpPr>
              <a:stCxn id="13" idx="0"/>
            </p:cNvCxnSpPr>
            <p:nvPr/>
          </p:nvCxnSpPr>
          <p:spPr>
            <a:xfrm flipV="1">
              <a:off x="9547" y="3216"/>
              <a:ext cx="772" cy="2297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9118" y="1849"/>
              <a:ext cx="2513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/>
                <a:t>语音</a:t>
              </a:r>
              <a:r>
                <a:rPr lang="zh-CN" altLang="en-US" sz="1600"/>
                <a:t>模块</a:t>
              </a:r>
              <a:endParaRPr lang="zh-CN" altLang="en-US" sz="1600"/>
            </a:p>
            <a:p>
              <a:pPr algn="ctr"/>
              <a:r>
                <a:rPr lang="zh-CN" altLang="en-US" sz="1600"/>
                <a:t>检测到漏油点时发出</a:t>
              </a:r>
              <a:r>
                <a:rPr lang="zh-CN" altLang="en-US" sz="1600"/>
                <a:t>警报</a:t>
              </a:r>
              <a:endParaRPr lang="zh-CN" altLang="en-US" sz="1600"/>
            </a:p>
          </p:txBody>
        </p:sp>
        <p:cxnSp>
          <p:nvCxnSpPr>
            <p:cNvPr id="32" name="直接箭头连接符 31"/>
            <p:cNvCxnSpPr/>
            <p:nvPr/>
          </p:nvCxnSpPr>
          <p:spPr>
            <a:xfrm>
              <a:off x="9361" y="7308"/>
              <a:ext cx="1039" cy="2527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/>
            <p:nvPr/>
          </p:nvSpPr>
          <p:spPr>
            <a:xfrm>
              <a:off x="9361" y="9777"/>
              <a:ext cx="235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/>
                <a:t>稳压</a:t>
              </a:r>
              <a:r>
                <a:rPr lang="zh-CN" altLang="en-US" sz="1600"/>
                <a:t>模块</a:t>
              </a:r>
              <a:endParaRPr lang="zh-CN" altLang="en-US" sz="1600"/>
            </a:p>
          </p:txBody>
        </p:sp>
        <p:cxnSp>
          <p:nvCxnSpPr>
            <p:cNvPr id="34" name="直接箭头连接符 33"/>
            <p:cNvCxnSpPr>
              <a:stCxn id="15" idx="0"/>
              <a:endCxn id="35" idx="2"/>
            </p:cNvCxnSpPr>
            <p:nvPr/>
          </p:nvCxnSpPr>
          <p:spPr>
            <a:xfrm flipV="1">
              <a:off x="11587" y="4813"/>
              <a:ext cx="653" cy="95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/>
          </p:nvSpPr>
          <p:spPr>
            <a:xfrm>
              <a:off x="11296" y="3894"/>
              <a:ext cx="1887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/>
                <a:t>自制</a:t>
              </a:r>
              <a:r>
                <a:rPr lang="zh-CN" altLang="en-US" sz="1600"/>
                <a:t>防水</a:t>
              </a:r>
              <a:endParaRPr lang="zh-CN" altLang="en-US" sz="1600"/>
            </a:p>
            <a:p>
              <a:pPr algn="ctr"/>
              <a:r>
                <a:rPr lang="zh-CN" altLang="en-US" sz="1600"/>
                <a:t>摄像头</a:t>
              </a:r>
              <a:endParaRPr lang="zh-CN" altLang="en-US" sz="1600"/>
            </a:p>
          </p:txBody>
        </p:sp>
        <p:cxnSp>
          <p:nvCxnSpPr>
            <p:cNvPr id="36" name="直接箭头连接符 35"/>
            <p:cNvCxnSpPr>
              <a:stCxn id="12" idx="2"/>
              <a:endCxn id="37" idx="0"/>
            </p:cNvCxnSpPr>
            <p:nvPr/>
          </p:nvCxnSpPr>
          <p:spPr>
            <a:xfrm flipH="1">
              <a:off x="7036" y="6866"/>
              <a:ext cx="1765" cy="2836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5857" y="9702"/>
              <a:ext cx="235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/>
                <a:t>arduino</a:t>
              </a:r>
              <a:endParaRPr lang="zh-CN" altLang="en-US" sz="160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0" y="260648"/>
            <a:ext cx="3575720" cy="909391"/>
            <a:chOff x="0" y="260648"/>
            <a:chExt cx="3575720" cy="909391"/>
          </a:xfrm>
        </p:grpSpPr>
        <p:sp>
          <p:nvSpPr>
            <p:cNvPr id="9" name="矩形 8"/>
            <p:cNvSpPr/>
            <p:nvPr>
              <p:custDataLst>
                <p:tags r:id="rId2"/>
              </p:custDataLst>
            </p:nvPr>
          </p:nvSpPr>
          <p:spPr>
            <a:xfrm>
              <a:off x="0" y="374221"/>
              <a:ext cx="551384" cy="79208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B47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695400" y="260648"/>
              <a:ext cx="2880320" cy="909391"/>
              <a:chOff x="623392" y="310880"/>
              <a:chExt cx="2880320" cy="909391"/>
            </a:xfrm>
          </p:grpSpPr>
          <p:sp>
            <p:nvSpPr>
              <p:cNvPr id="46" name="文本框 4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23392" y="310880"/>
                <a:ext cx="1808480" cy="583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项目</a:t>
                </a: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经历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  <p:cxnSp>
            <p:nvCxnSpPr>
              <p:cNvPr id="47" name="直接连接符 46"/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623392" y="989439"/>
                <a:ext cx="2880320" cy="0"/>
              </a:xfrm>
              <a:prstGeom prst="line">
                <a:avLst/>
              </a:prstGeom>
              <a:ln w="28575">
                <a:gradFill flip="none" rotWithShape="1">
                  <a:gsLst>
                    <a:gs pos="0">
                      <a:srgbClr val="023FA1"/>
                    </a:gs>
                    <a:gs pos="9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77820" y="989439"/>
                <a:ext cx="28258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DALIAN MARITIME UNIVERSITY</a:t>
                </a:r>
                <a:endParaRPr kumimoji="0" lang="en-US" altLang="zh-CN" sz="9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3575685" y="3300730"/>
            <a:ext cx="361950" cy="3822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cxnSp>
        <p:nvCxnSpPr>
          <p:cNvPr id="24" name="直接箭头连接符 23"/>
          <p:cNvCxnSpPr/>
          <p:nvPr>
            <p:custDataLst>
              <p:tags r:id="rId7"/>
            </p:custDataLst>
          </p:nvPr>
        </p:nvCxnSpPr>
        <p:spPr>
          <a:xfrm flipH="1" flipV="1">
            <a:off x="1638935" y="2090420"/>
            <a:ext cx="2058670" cy="1303655"/>
          </a:xfrm>
          <a:prstGeom prst="straightConnector1">
            <a:avLst/>
          </a:prstGeom>
          <a:ln w="158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51180" y="1617345"/>
            <a:ext cx="1414780" cy="811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None/>
            </a:pPr>
            <a:r>
              <a:rPr lang="zh-CN" altLang="en-US" sz="1600">
                <a:sym typeface="+mn-ea"/>
              </a:rPr>
              <a:t>四推进器电机控制运动</a:t>
            </a:r>
            <a:endParaRPr lang="zh-CN" altLang="en-US" sz="1600"/>
          </a:p>
          <a:p>
            <a:endParaRPr lang="zh-CN" altLang="en-US"/>
          </a:p>
        </p:txBody>
      </p:sp>
      <p:pic>
        <p:nvPicPr>
          <p:cNvPr id="26" name="图片 25" descr="推进器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0" y="1412875"/>
            <a:ext cx="892810" cy="12319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80"/>
          <a:stretch>
            <a:fillRect/>
          </a:stretch>
        </p:blipFill>
        <p:spPr>
          <a:xfrm rot="16200000">
            <a:off x="8321032" y="3874876"/>
            <a:ext cx="979569" cy="1469098"/>
          </a:xfrm>
          <a:prstGeom prst="rect">
            <a:avLst/>
          </a:prstGeom>
        </p:spPr>
      </p:pic>
      <p:sp>
        <p:nvSpPr>
          <p:cNvPr id="61" name="矩形 60"/>
          <p:cNvSpPr/>
          <p:nvPr>
            <p:custDataLst>
              <p:tags r:id="rId10"/>
            </p:custDataLst>
          </p:nvPr>
        </p:nvSpPr>
        <p:spPr>
          <a:xfrm rot="5400000">
            <a:off x="7006090" y="4739685"/>
            <a:ext cx="720000" cy="144000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grpSp>
        <p:nvGrpSpPr>
          <p:cNvPr id="64" name="组合 63"/>
          <p:cNvGrpSpPr/>
          <p:nvPr/>
        </p:nvGrpSpPr>
        <p:grpSpPr>
          <a:xfrm>
            <a:off x="10276205" y="4695825"/>
            <a:ext cx="1495425" cy="720090"/>
            <a:chOff x="11333" y="7202"/>
            <a:chExt cx="2355" cy="1134"/>
          </a:xfrm>
        </p:grpSpPr>
        <p:sp>
          <p:nvSpPr>
            <p:cNvPr id="67" name="矩形 66"/>
            <p:cNvSpPr/>
            <p:nvPr>
              <p:custDataLst>
                <p:tags r:id="rId11"/>
              </p:custDataLst>
            </p:nvPr>
          </p:nvSpPr>
          <p:spPr>
            <a:xfrm rot="5400000">
              <a:off x="11944" y="6635"/>
              <a:ext cx="1134" cy="226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 dirty="0"/>
            </a:p>
          </p:txBody>
        </p:sp>
        <p:sp>
          <p:nvSpPr>
            <p:cNvPr id="68" name="文本框 67"/>
            <p:cNvSpPr txBox="1"/>
            <p:nvPr>
              <p:custDataLst>
                <p:tags r:id="rId12"/>
              </p:custDataLst>
            </p:nvPr>
          </p:nvSpPr>
          <p:spPr>
            <a:xfrm>
              <a:off x="11333" y="7418"/>
              <a:ext cx="2355" cy="72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sz="2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漏油检测</a:t>
              </a:r>
              <a:endPara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10276205" y="5702935"/>
            <a:ext cx="1518285" cy="720090"/>
            <a:chOff x="9175" y="9948"/>
            <a:chExt cx="2391" cy="1134"/>
          </a:xfrm>
        </p:grpSpPr>
        <p:sp>
          <p:nvSpPr>
            <p:cNvPr id="71" name="矩形 70"/>
            <p:cNvSpPr/>
            <p:nvPr>
              <p:custDataLst>
                <p:tags r:id="rId13"/>
              </p:custDataLst>
            </p:nvPr>
          </p:nvSpPr>
          <p:spPr>
            <a:xfrm rot="5400000">
              <a:off x="9804" y="9381"/>
              <a:ext cx="1134" cy="226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/>
            </a:p>
          </p:txBody>
        </p:sp>
        <p:sp>
          <p:nvSpPr>
            <p:cNvPr id="72" name="文本框 71"/>
            <p:cNvSpPr txBox="1"/>
            <p:nvPr>
              <p:custDataLst>
                <p:tags r:id="rId14"/>
              </p:custDataLst>
            </p:nvPr>
          </p:nvSpPr>
          <p:spPr>
            <a:xfrm>
              <a:off x="9175" y="10154"/>
              <a:ext cx="2391" cy="72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管路循迹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6" name="文本框 75"/>
          <p:cNvSpPr txBox="1"/>
          <p:nvPr/>
        </p:nvSpPr>
        <p:spPr>
          <a:xfrm>
            <a:off x="6750050" y="5053330"/>
            <a:ext cx="1345565" cy="896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etson Nano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ClrTx/>
              <a:buSzTx/>
              <a:buFontTx/>
            </a:pP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>
            <p:custDataLst>
              <p:tags r:id="rId15"/>
            </p:custDataLst>
          </p:nvPr>
        </p:nvSpPr>
        <p:spPr>
          <a:xfrm rot="5400000">
            <a:off x="7005955" y="2315210"/>
            <a:ext cx="720090" cy="144018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78" name="文本框 77"/>
          <p:cNvSpPr txBox="1"/>
          <p:nvPr>
            <p:custDataLst>
              <p:tags r:id="rId16"/>
            </p:custDataLst>
          </p:nvPr>
        </p:nvSpPr>
        <p:spPr>
          <a:xfrm>
            <a:off x="6558280" y="2773045"/>
            <a:ext cx="1518285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STM32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/>
          <p:cNvSpPr/>
          <p:nvPr>
            <p:custDataLst>
              <p:tags r:id="rId17"/>
            </p:custDataLst>
          </p:nvPr>
        </p:nvSpPr>
        <p:spPr>
          <a:xfrm rot="5400000">
            <a:off x="10659745" y="1730375"/>
            <a:ext cx="720090" cy="144018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82" name="文本框 81"/>
          <p:cNvSpPr txBox="1"/>
          <p:nvPr>
            <p:custDataLst>
              <p:tags r:id="rId18"/>
            </p:custDataLst>
          </p:nvPr>
        </p:nvSpPr>
        <p:spPr>
          <a:xfrm>
            <a:off x="10275570" y="2059940"/>
            <a:ext cx="1480185" cy="61468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四推进器驱动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7" name="肘形连接符 86"/>
          <p:cNvCxnSpPr/>
          <p:nvPr/>
        </p:nvCxnSpPr>
        <p:spPr>
          <a:xfrm flipV="1">
            <a:off x="8584565" y="5075555"/>
            <a:ext cx="1663700" cy="518795"/>
          </a:xfrm>
          <a:prstGeom prst="bentConnector3">
            <a:avLst>
              <a:gd name="adj1" fmla="val 50038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肘形连接符 88"/>
          <p:cNvCxnSpPr/>
          <p:nvPr/>
        </p:nvCxnSpPr>
        <p:spPr>
          <a:xfrm>
            <a:off x="8201025" y="5594350"/>
            <a:ext cx="2075180" cy="469900"/>
          </a:xfrm>
          <a:prstGeom prst="bentConnector3">
            <a:avLst>
              <a:gd name="adj1" fmla="val 5872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1" name="上下箭头 90"/>
          <p:cNvSpPr/>
          <p:nvPr/>
        </p:nvSpPr>
        <p:spPr>
          <a:xfrm>
            <a:off x="7232650" y="3514725"/>
            <a:ext cx="266065" cy="1560830"/>
          </a:xfrm>
          <a:prstGeom prst="up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矩形 94"/>
          <p:cNvSpPr/>
          <p:nvPr>
            <p:custDataLst>
              <p:tags r:id="rId19"/>
            </p:custDataLst>
          </p:nvPr>
        </p:nvSpPr>
        <p:spPr>
          <a:xfrm rot="5400000">
            <a:off x="10660380" y="2714625"/>
            <a:ext cx="720090" cy="144018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dirty="0"/>
          </a:p>
        </p:txBody>
      </p:sp>
      <p:sp>
        <p:nvSpPr>
          <p:cNvPr id="96" name="文本框 95"/>
          <p:cNvSpPr txBox="1"/>
          <p:nvPr>
            <p:custDataLst>
              <p:tags r:id="rId20"/>
            </p:custDataLst>
          </p:nvPr>
        </p:nvSpPr>
        <p:spPr>
          <a:xfrm>
            <a:off x="10231755" y="3211830"/>
            <a:ext cx="1495425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姿态调整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7" name="肘形连接符 96"/>
          <p:cNvCxnSpPr/>
          <p:nvPr>
            <p:custDataLst>
              <p:tags r:id="rId21"/>
            </p:custDataLst>
          </p:nvPr>
        </p:nvCxnSpPr>
        <p:spPr>
          <a:xfrm>
            <a:off x="8173085" y="3173730"/>
            <a:ext cx="2075180" cy="469900"/>
          </a:xfrm>
          <a:prstGeom prst="bentConnector3">
            <a:avLst>
              <a:gd name="adj1" fmla="val 5872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肘形连接符 97"/>
          <p:cNvCxnSpPr/>
          <p:nvPr>
            <p:custDataLst>
              <p:tags r:id="rId22"/>
            </p:custDataLst>
          </p:nvPr>
        </p:nvCxnSpPr>
        <p:spPr>
          <a:xfrm flipV="1">
            <a:off x="8568055" y="2493010"/>
            <a:ext cx="1652270" cy="680720"/>
          </a:xfrm>
          <a:prstGeom prst="bentConnector3">
            <a:avLst>
              <a:gd name="adj1" fmla="val 50038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6614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97547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2000"/>
                </a:schemeClr>
              </a:gs>
              <a:gs pos="100000">
                <a:schemeClr val="bg1">
                  <a:alpha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384" y="6398695"/>
            <a:ext cx="2020252" cy="42202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1180" y="1352550"/>
            <a:ext cx="110470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智慧药房送药小车       	基于ROS的智慧药房送药小车 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.11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至今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>
              <a:buClrTx/>
              <a:buSzTx/>
              <a:buNone/>
            </a:pPr>
            <a:r>
              <a:rPr lang="zh-CN" altLang="en-US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项目介绍</a:t>
            </a:r>
            <a:r>
              <a:rPr lang="zh-CN" altLang="en-US"/>
              <a:t>：机器人整体采用阿克曼底盘结构，利用STM32F4控制底盘运动，在树莓派上安装 ROS-Melodic框架进行开发，能够在药房地图中自主导航并且识别不同种类药品及药房标号，从而能够准确送达指定位置。</a:t>
            </a:r>
            <a:endParaRPr lang="zh-CN" altLang="en-US"/>
          </a:p>
          <a:p>
            <a:pPr algn="l">
              <a:buClrTx/>
              <a:buSzTx/>
              <a:buNone/>
            </a:pPr>
            <a:r>
              <a:rPr lang="zh-CN" altLang="en-US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主要负责</a:t>
            </a:r>
            <a:r>
              <a:rPr lang="zh-CN" altLang="en-US"/>
              <a:t>：在树莓派上部署ShuffleNet模型，训练模型能够识别不同种类的药品及房间标号。在ROS中对小车进行Gazebo仿真验证路径规划算法，在实车上配置 gmapping 和 move_base 实现 SLAM建图和导航。</a:t>
            </a:r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0" y="260648"/>
            <a:ext cx="3575720" cy="909391"/>
            <a:chOff x="0" y="260648"/>
            <a:chExt cx="3575720" cy="909391"/>
          </a:xfrm>
        </p:grpSpPr>
        <p:sp>
          <p:nvSpPr>
            <p:cNvPr id="9" name="矩形 8"/>
            <p:cNvSpPr/>
            <p:nvPr>
              <p:custDataLst>
                <p:tags r:id="rId4"/>
              </p:custDataLst>
            </p:nvPr>
          </p:nvSpPr>
          <p:spPr>
            <a:xfrm>
              <a:off x="0" y="374221"/>
              <a:ext cx="551384" cy="79208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B47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695400" y="260648"/>
              <a:ext cx="2880320" cy="909391"/>
              <a:chOff x="623392" y="310880"/>
              <a:chExt cx="2880320" cy="909391"/>
            </a:xfrm>
          </p:grpSpPr>
          <p:sp>
            <p:nvSpPr>
              <p:cNvPr id="46" name="文本框 4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23392" y="310880"/>
                <a:ext cx="1808480" cy="583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项目</a:t>
                </a: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经历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  <p:cxnSp>
            <p:nvCxnSpPr>
              <p:cNvPr id="47" name="直接连接符 46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623392" y="989439"/>
                <a:ext cx="2880320" cy="0"/>
              </a:xfrm>
              <a:prstGeom prst="line">
                <a:avLst/>
              </a:prstGeom>
              <a:ln w="28575">
                <a:gradFill flip="none" rotWithShape="1">
                  <a:gsLst>
                    <a:gs pos="0">
                      <a:srgbClr val="023FA1"/>
                    </a:gs>
                    <a:gs pos="9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77820" y="989439"/>
                <a:ext cx="28258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DALIAN MARITIME UNIVERSITY</a:t>
                </a:r>
                <a:endParaRPr kumimoji="0" lang="en-US" altLang="zh-CN" sz="9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49935" y="2932430"/>
            <a:ext cx="5346700" cy="29476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0"/>
          <a:srcRect r="14103"/>
          <a:stretch>
            <a:fillRect/>
          </a:stretch>
        </p:blipFill>
        <p:spPr>
          <a:xfrm>
            <a:off x="6096635" y="2932430"/>
            <a:ext cx="5499735" cy="2947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6614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97547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2000"/>
                </a:schemeClr>
              </a:gs>
              <a:gs pos="100000">
                <a:schemeClr val="bg1">
                  <a:alpha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384" y="6398695"/>
            <a:ext cx="2020252" cy="422026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0" y="260648"/>
            <a:ext cx="3575720" cy="909391"/>
            <a:chOff x="0" y="260648"/>
            <a:chExt cx="3575720" cy="909391"/>
          </a:xfrm>
        </p:grpSpPr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0" y="374221"/>
              <a:ext cx="551384" cy="79208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B47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695400" y="260648"/>
              <a:ext cx="2880320" cy="909391"/>
              <a:chOff x="623392" y="310880"/>
              <a:chExt cx="2880320" cy="909391"/>
            </a:xfrm>
          </p:grpSpPr>
          <p:sp>
            <p:nvSpPr>
              <p:cNvPr id="14" name="文本框 13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23392" y="310880"/>
                <a:ext cx="1808480" cy="583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其他经历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  <p:cxnSp>
            <p:nvCxnSpPr>
              <p:cNvPr id="15" name="直接连接符 14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623392" y="989439"/>
                <a:ext cx="2880320" cy="0"/>
              </a:xfrm>
              <a:prstGeom prst="line">
                <a:avLst/>
              </a:prstGeom>
              <a:ln w="28575">
                <a:gradFill flip="none" rotWithShape="1">
                  <a:gsLst>
                    <a:gs pos="0">
                      <a:srgbClr val="023FA1"/>
                    </a:gs>
                    <a:gs pos="9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77820" y="989439"/>
                <a:ext cx="28258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DALIAN MARITIME UNIVERSITY</a:t>
                </a:r>
                <a:endParaRPr kumimoji="0" lang="en-US" altLang="zh-CN" sz="9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2" name="文本框 21"/>
          <p:cNvSpPr txBox="1"/>
          <p:nvPr/>
        </p:nvSpPr>
        <p:spPr>
          <a:xfrm>
            <a:off x="3774440" y="516890"/>
            <a:ext cx="5763260" cy="668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872615" y="5813425"/>
            <a:ext cx="2524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主控电路原理图部分</a:t>
            </a:r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7903845" y="6204585"/>
            <a:ext cx="2322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 PCB 3D外观</a:t>
            </a:r>
            <a:endParaRPr lang="zh-CN" altLang="en-US"/>
          </a:p>
        </p:txBody>
      </p:sp>
      <p:pic>
        <p:nvPicPr>
          <p:cNvPr id="2" name="图片 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3980" y="1868805"/>
            <a:ext cx="5902960" cy="3846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内容占位符 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328410" y="1472565"/>
            <a:ext cx="2442210" cy="2038985"/>
          </a:xfrm>
          <a:prstGeom prst="rect">
            <a:avLst/>
          </a:prstGeom>
          <a:ln>
            <a:noFill/>
            <a:prstDash val="sysDash"/>
          </a:ln>
        </p:spPr>
      </p:pic>
      <p:pic>
        <p:nvPicPr>
          <p:cNvPr id="7" name="内容占位符 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752205" y="1472565"/>
            <a:ext cx="2396490" cy="2033905"/>
          </a:xfrm>
          <a:prstGeom prst="rect">
            <a:avLst/>
          </a:prstGeom>
          <a:ln>
            <a:noFill/>
            <a:prstDash val="sysDash"/>
          </a:ln>
        </p:spPr>
      </p:pic>
      <p:pic>
        <p:nvPicPr>
          <p:cNvPr id="8" name="内容占位符 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238240" y="3978910"/>
            <a:ext cx="2492375" cy="2103755"/>
          </a:xfrm>
          <a:prstGeom prst="rect">
            <a:avLst/>
          </a:prstGeom>
          <a:ln>
            <a:noFill/>
            <a:prstDash val="sysDash"/>
          </a:ln>
        </p:spPr>
      </p:pic>
      <p:pic>
        <p:nvPicPr>
          <p:cNvPr id="9" name="图片 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782368" y="3978593"/>
            <a:ext cx="2369185" cy="21151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432675" y="3665855"/>
            <a:ext cx="2759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PCB</a:t>
            </a:r>
            <a:r>
              <a:rPr lang="zh-CN" altLang="en-US"/>
              <a:t>顶层和底层设计</a:t>
            </a:r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9"/>
            </p:custDataLst>
          </p:nvPr>
        </p:nvSpPr>
        <p:spPr>
          <a:xfrm>
            <a:off x="3774440" y="514350"/>
            <a:ext cx="5662295" cy="634365"/>
          </a:xfrm>
          <a:prstGeom prst="rect">
            <a:avLst/>
          </a:prstGeom>
          <a:solidFill>
            <a:srgbClr val="0054A7"/>
          </a:solidFill>
        </p:spPr>
        <p:txBody>
          <a:bodyPr wrap="square" rtlCol="0">
            <a:noAutofit/>
          </a:bodyPr>
          <a:p>
            <a:pPr indent="457200"/>
            <a:endParaRPr lang="zh-CN" altLang="en-US" b="1">
              <a:solidFill>
                <a:schemeClr val="bg1"/>
              </a:solidFill>
              <a:uFillTx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890010" y="634365"/>
            <a:ext cx="5414645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bg1"/>
                </a:solidFill>
                <a:uFillTx/>
                <a:sym typeface="+mn-ea"/>
              </a:rPr>
              <a:t>  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基于STM32单片机和HX711的电子秤PCB设计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211455" y="0"/>
            <a:ext cx="11980545" cy="68859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0" y="1"/>
            <a:ext cx="12192000" cy="68853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1424" y="1377348"/>
            <a:ext cx="5328592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0" dirty="0">
                <a:solidFill>
                  <a:schemeClr val="bg1"/>
                </a:solidFill>
                <a:latin typeface="Arial Black" panose="020B0A04020102020204" pitchFamily="34" charset="0"/>
              </a:rPr>
              <a:t>04</a:t>
            </a:r>
            <a:endParaRPr lang="zh-CN" altLang="en-US" sz="26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标题 4"/>
          <p:cNvSpPr txBox="1"/>
          <p:nvPr/>
        </p:nvSpPr>
        <p:spPr>
          <a:xfrm>
            <a:off x="6096000" y="2708920"/>
            <a:ext cx="6480719" cy="1440159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其他经历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264352" y="375400"/>
            <a:ext cx="2475841" cy="652737"/>
            <a:chOff x="4542542" y="708265"/>
            <a:chExt cx="5724080" cy="1509108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542542" y="708265"/>
              <a:ext cx="1502034" cy="1502031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044581" y="891336"/>
              <a:ext cx="4222037" cy="898085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6044576" y="1719273"/>
              <a:ext cx="4222046" cy="4981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schemeClr val="bg1"/>
                  </a:solidFill>
                </a:rPr>
                <a:t>DALIAN MARITIME UNIVERSITY</a:t>
              </a:r>
              <a:endParaRPr lang="en-US" altLang="zh-CN" sz="8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91" y="6001797"/>
            <a:ext cx="2600475" cy="6621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985320"/>
            <a:ext cx="12192000" cy="4536163"/>
          </a:xfrm>
          <a:prstGeom prst="rect">
            <a:avLst/>
          </a:prstGeom>
          <a:solidFill>
            <a:srgbClr val="0054A7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94241C"/>
              </a:solidFill>
            </a:endParaRPr>
          </a:p>
        </p:txBody>
      </p:sp>
      <p:sp>
        <p:nvSpPr>
          <p:cNvPr id="3" name="文本框 12"/>
          <p:cNvSpPr txBox="1"/>
          <p:nvPr/>
        </p:nvSpPr>
        <p:spPr>
          <a:xfrm>
            <a:off x="580357" y="5686028"/>
            <a:ext cx="10944860" cy="922020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b="1" dirty="0">
                <a:latin typeface="思源宋体 CN Heavy" panose="02020900000000000000" charset="-122"/>
                <a:ea typeface="思源宋体 CN Heavy" panose="02020900000000000000" charset="-122"/>
              </a:rPr>
              <a:t>任</a:t>
            </a:r>
            <a:r>
              <a:rPr lang="en-US" altLang="zh-CN" b="1" dirty="0">
                <a:latin typeface="思源宋体 CN Heavy" panose="02020900000000000000" charset="-122"/>
                <a:ea typeface="思源宋体 CN Heavy" panose="02020900000000000000" charset="-122"/>
              </a:rPr>
              <a:t>xxx</a:t>
            </a:r>
            <a:r>
              <a:rPr lang="zh-CN" altLang="en-US" b="1" dirty="0">
                <a:solidFill>
                  <a:srgbClr val="C00000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社长</a:t>
            </a:r>
            <a:r>
              <a:rPr lang="zh-CN" altLang="en-US" b="1" dirty="0">
                <a:latin typeface="思源宋体 CN Heavy" panose="02020900000000000000" charset="-122"/>
                <a:ea typeface="思源宋体 CN Heavy" panose="02020900000000000000" charset="-122"/>
              </a:rPr>
              <a:t>期间，举办</a:t>
            </a:r>
            <a:r>
              <a:rPr lang="en-US" altLang="zh-CN" b="1" dirty="0">
                <a:solidFill>
                  <a:srgbClr val="FF0000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10</a:t>
            </a:r>
            <a:r>
              <a:rPr lang="zh-CN" altLang="en-US" b="1" dirty="0">
                <a:latin typeface="思源宋体 CN Heavy" panose="02020900000000000000" charset="-122"/>
                <a:ea typeface="思源宋体 CN Heavy" panose="02020900000000000000" charset="-122"/>
              </a:rPr>
              <a:t>余次培训课程，举办“</a:t>
            </a:r>
            <a:r>
              <a:rPr lang="en-US" altLang="zh-CN" b="1" dirty="0">
                <a:latin typeface="思源宋体 CN Heavy" panose="02020900000000000000" charset="-122"/>
                <a:ea typeface="思源宋体 CN Heavy" panose="02020900000000000000" charset="-122"/>
              </a:rPr>
              <a:t>xx</a:t>
            </a:r>
            <a:r>
              <a:rPr lang="zh-CN" altLang="en-US" b="1" dirty="0">
                <a:latin typeface="思源宋体 CN Heavy" panose="02020900000000000000" charset="-122"/>
                <a:ea typeface="思源宋体 CN Heavy" panose="02020900000000000000" charset="-122"/>
              </a:rPr>
              <a:t>杯”校级科创赛事，先后服务社团成员、比赛队员</a:t>
            </a:r>
            <a:r>
              <a:rPr lang="zh-CN" altLang="en-US" b="1" dirty="0">
                <a:solidFill>
                  <a:srgbClr val="C00000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数百</a:t>
            </a:r>
            <a:r>
              <a:rPr lang="zh-CN" altLang="en-US" b="1" dirty="0">
                <a:latin typeface="思源宋体 CN Heavy" panose="02020900000000000000" charset="-122"/>
                <a:ea typeface="思源宋体 CN Heavy" panose="02020900000000000000" charset="-122"/>
              </a:rPr>
              <a:t>人次，任职期间社团获得国家级和省级奖项</a:t>
            </a:r>
            <a:r>
              <a:rPr lang="zh-CN" altLang="en-US" b="1" dirty="0">
                <a:solidFill>
                  <a:srgbClr val="C00000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数十</a:t>
            </a:r>
            <a:r>
              <a:rPr lang="zh-CN" altLang="en-US" b="1" dirty="0">
                <a:latin typeface="思源宋体 CN Heavy" panose="02020900000000000000" charset="-122"/>
                <a:ea typeface="思源宋体 CN Heavy" panose="02020900000000000000" charset="-122"/>
              </a:rPr>
              <a:t>项。</a:t>
            </a:r>
            <a:endParaRPr lang="zh-CN" altLang="en-US" b="1" dirty="0"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-13970" y="143716"/>
            <a:ext cx="3589690" cy="909483"/>
            <a:chOff x="-13970" y="260556"/>
            <a:chExt cx="3589690" cy="909483"/>
          </a:xfrm>
        </p:grpSpPr>
        <p:sp>
          <p:nvSpPr>
            <p:cNvPr id="15" name="矩形 14"/>
            <p:cNvSpPr/>
            <p:nvPr>
              <p:custDataLst>
                <p:tags r:id="rId1"/>
              </p:custDataLst>
            </p:nvPr>
          </p:nvSpPr>
          <p:spPr>
            <a:xfrm>
              <a:off x="-13970" y="260556"/>
              <a:ext cx="551384" cy="79208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B47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695400" y="260648"/>
              <a:ext cx="2880320" cy="909391"/>
              <a:chOff x="623392" y="310880"/>
              <a:chExt cx="2880320" cy="909391"/>
            </a:xfrm>
          </p:grpSpPr>
          <p:sp>
            <p:nvSpPr>
              <p:cNvPr id="46" name="文本框 45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23392" y="310880"/>
                <a:ext cx="1808480" cy="583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其他经历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  <p:cxnSp>
            <p:nvCxnSpPr>
              <p:cNvPr id="47" name="直接连接符 46"/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623392" y="989439"/>
                <a:ext cx="2880320" cy="0"/>
              </a:xfrm>
              <a:prstGeom prst="line">
                <a:avLst/>
              </a:prstGeom>
              <a:ln w="28575">
                <a:gradFill flip="none" rotWithShape="1">
                  <a:gsLst>
                    <a:gs pos="0">
                      <a:srgbClr val="023FA1"/>
                    </a:gs>
                    <a:gs pos="9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77820" y="989439"/>
                <a:ext cx="28258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DALIAN MARITIME UNIVERSITY</a:t>
                </a:r>
                <a:endParaRPr kumimoji="0" lang="en-US" altLang="zh-CN" sz="9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7" name="文本框 16"/>
          <p:cNvSpPr txBox="1"/>
          <p:nvPr/>
        </p:nvSpPr>
        <p:spPr>
          <a:xfrm>
            <a:off x="2869565" y="4972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03020" y="5151120"/>
            <a:ext cx="2656840" cy="370205"/>
          </a:xfrm>
          <a:prstGeom prst="rect">
            <a:avLst/>
          </a:prstGeom>
          <a:solidFill>
            <a:srgbClr val="0054A7"/>
          </a:solidFill>
        </p:spPr>
        <p:txBody>
          <a:bodyPr wrap="square" rtlCol="0">
            <a:noAutofit/>
          </a:bodyPr>
          <a:p>
            <a:pPr indent="457200"/>
            <a:r>
              <a:rPr lang="en-US" altLang="zh-CN" sz="1600" b="1">
                <a:solidFill>
                  <a:schemeClr val="bg1"/>
                </a:solidFill>
                <a:uFillTx/>
              </a:rPr>
              <a:t>    xx</a:t>
            </a:r>
            <a:r>
              <a:rPr lang="zh-CN" altLang="en-US" sz="1600" b="1">
                <a:solidFill>
                  <a:schemeClr val="bg1"/>
                </a:solidFill>
                <a:uFillTx/>
              </a:rPr>
              <a:t>实习</a:t>
            </a:r>
            <a:endParaRPr lang="zh-CN" altLang="en-US" sz="1600" b="1">
              <a:solidFill>
                <a:schemeClr val="bg1"/>
              </a:solidFill>
              <a:uFillTx/>
            </a:endParaRPr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1346835" y="2812415"/>
            <a:ext cx="2612390" cy="334010"/>
          </a:xfrm>
          <a:prstGeom prst="rect">
            <a:avLst/>
          </a:prstGeom>
          <a:solidFill>
            <a:srgbClr val="0054A7"/>
          </a:solidFill>
        </p:spPr>
        <p:txBody>
          <a:bodyPr wrap="square" rtlCol="0">
            <a:noAutofit/>
          </a:bodyPr>
          <a:p>
            <a:pPr indent="457200"/>
            <a:r>
              <a:rPr lang="en-US" altLang="zh-CN" sz="1600" b="1">
                <a:solidFill>
                  <a:schemeClr val="bg1"/>
                </a:solidFill>
                <a:uFillTx/>
              </a:rPr>
              <a:t>    </a:t>
            </a:r>
            <a:r>
              <a:rPr lang="zh-CN" altLang="en-US" sz="1600" b="1">
                <a:solidFill>
                  <a:schemeClr val="bg1"/>
                </a:solidFill>
                <a:uFillTx/>
              </a:rPr>
              <a:t>模拟考核</a:t>
            </a:r>
            <a:endParaRPr lang="zh-CN" altLang="en-US" sz="1600" b="1">
              <a:solidFill>
                <a:schemeClr val="bg1"/>
              </a:solidFill>
              <a:uFillTx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4578985" y="2812415"/>
            <a:ext cx="2604135" cy="334010"/>
          </a:xfrm>
          <a:prstGeom prst="rect">
            <a:avLst/>
          </a:prstGeom>
          <a:solidFill>
            <a:srgbClr val="0054A7"/>
          </a:solidFill>
        </p:spPr>
        <p:txBody>
          <a:bodyPr wrap="square" rtlCol="0">
            <a:noAutofit/>
          </a:bodyPr>
          <a:p>
            <a:pPr indent="457200"/>
            <a:r>
              <a:rPr lang="en-US" altLang="zh-CN" sz="1600" b="1">
                <a:solidFill>
                  <a:schemeClr val="bg1"/>
                </a:solidFill>
                <a:uFillTx/>
              </a:rPr>
              <a:t>    </a:t>
            </a:r>
            <a:r>
              <a:rPr lang="zh-CN" altLang="en-US" sz="1600" b="1">
                <a:solidFill>
                  <a:schemeClr val="bg1"/>
                </a:solidFill>
                <a:uFillTx/>
              </a:rPr>
              <a:t>百团大战招新</a:t>
            </a:r>
            <a:endParaRPr lang="zh-CN" altLang="en-US" sz="1600" b="1">
              <a:solidFill>
                <a:schemeClr val="bg1"/>
              </a:solidFill>
              <a:uFillTx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4578350" y="5187315"/>
            <a:ext cx="2710815" cy="334010"/>
          </a:xfrm>
          <a:prstGeom prst="rect">
            <a:avLst/>
          </a:prstGeom>
          <a:solidFill>
            <a:srgbClr val="0054A7"/>
          </a:solidFill>
        </p:spPr>
        <p:txBody>
          <a:bodyPr wrap="square" rtlCol="0">
            <a:noAutofit/>
          </a:bodyPr>
          <a:p>
            <a:pPr indent="457200"/>
            <a:r>
              <a:rPr lang="en-US" altLang="zh-CN" sz="1600" b="1">
                <a:solidFill>
                  <a:schemeClr val="bg1"/>
                </a:solidFill>
                <a:uFillTx/>
              </a:rPr>
              <a:t>    </a:t>
            </a:r>
            <a:r>
              <a:rPr lang="zh-CN" altLang="en-US" sz="1600" b="1">
                <a:solidFill>
                  <a:schemeClr val="bg1"/>
                </a:solidFill>
                <a:uFillTx/>
              </a:rPr>
              <a:t>社团培训</a:t>
            </a:r>
            <a:endParaRPr lang="zh-CN" altLang="en-US" sz="1600" b="1">
              <a:solidFill>
                <a:schemeClr val="bg1"/>
              </a:solidFill>
              <a:uFillTx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8067040" y="5182870"/>
            <a:ext cx="3016885" cy="334010"/>
          </a:xfrm>
          <a:prstGeom prst="rect">
            <a:avLst/>
          </a:prstGeom>
          <a:solidFill>
            <a:srgbClr val="0054A7"/>
          </a:solidFill>
        </p:spPr>
        <p:txBody>
          <a:bodyPr wrap="square" rtlCol="0">
            <a:noAutofit/>
          </a:bodyPr>
          <a:p>
            <a:pPr indent="457200"/>
            <a:r>
              <a:rPr lang="en-US" altLang="zh-CN" sz="1600" b="1">
                <a:solidFill>
                  <a:schemeClr val="bg1"/>
                </a:solidFill>
                <a:uFillTx/>
              </a:rPr>
              <a:t>           </a:t>
            </a:r>
            <a:r>
              <a:rPr lang="zh-CN" altLang="en-US" sz="1600" b="1">
                <a:solidFill>
                  <a:schemeClr val="bg1"/>
                </a:solidFill>
                <a:uFillTx/>
              </a:rPr>
              <a:t>工作文件</a:t>
            </a:r>
            <a:endParaRPr lang="zh-CN" altLang="en-US" sz="1600" b="1">
              <a:solidFill>
                <a:schemeClr val="bg1"/>
              </a:solidFill>
              <a:uFillTx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t="6998"/>
          <a:stretch>
            <a:fillRect/>
          </a:stretch>
        </p:blipFill>
        <p:spPr>
          <a:xfrm>
            <a:off x="8067675" y="985520"/>
            <a:ext cx="3016885" cy="42297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303020" y="3428365"/>
            <a:ext cx="2683510" cy="17595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303020" y="1053465"/>
            <a:ext cx="2683510" cy="17595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578985" y="1053465"/>
            <a:ext cx="2683510" cy="17595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605655" y="3455670"/>
            <a:ext cx="2683510" cy="1759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211455" y="0"/>
            <a:ext cx="11980545" cy="68859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0" y="1"/>
            <a:ext cx="12192000" cy="68853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1424" y="1377348"/>
            <a:ext cx="5328592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0" dirty="0">
                <a:solidFill>
                  <a:schemeClr val="bg1"/>
                </a:solidFill>
                <a:latin typeface="Arial Black" panose="020B0A04020102020204" pitchFamily="34" charset="0"/>
              </a:rPr>
              <a:t>05</a:t>
            </a:r>
            <a:endParaRPr lang="zh-CN" altLang="en-US" sz="26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标题 4"/>
          <p:cNvSpPr txBox="1"/>
          <p:nvPr/>
        </p:nvSpPr>
        <p:spPr>
          <a:xfrm>
            <a:off x="6096000" y="2708920"/>
            <a:ext cx="6480719" cy="1440159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未来计划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264352" y="375400"/>
            <a:ext cx="2475841" cy="652737"/>
            <a:chOff x="4542542" y="708265"/>
            <a:chExt cx="5724080" cy="1509108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542542" y="708265"/>
              <a:ext cx="1502034" cy="1502031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044581" y="891336"/>
              <a:ext cx="4222037" cy="898085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6044576" y="1719273"/>
              <a:ext cx="4222046" cy="4981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schemeClr val="bg1"/>
                  </a:solidFill>
                </a:rPr>
                <a:t>DALIAN MARITIME UNIVERSITY</a:t>
              </a:r>
              <a:endParaRPr lang="en-US" altLang="zh-CN" sz="8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91" y="6001797"/>
            <a:ext cx="2600475" cy="6621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93" y="0"/>
            <a:ext cx="12184814" cy="686614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186" y="0"/>
            <a:ext cx="12184814" cy="6866143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2000"/>
                </a:schemeClr>
              </a:gs>
              <a:gs pos="100000">
                <a:schemeClr val="bg1">
                  <a:alpha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0" y="260648"/>
            <a:ext cx="3575720" cy="909391"/>
            <a:chOff x="0" y="260648"/>
            <a:chExt cx="3575720" cy="909391"/>
          </a:xfrm>
        </p:grpSpPr>
        <p:sp>
          <p:nvSpPr>
            <p:cNvPr id="6" name="矩形 5"/>
            <p:cNvSpPr/>
            <p:nvPr/>
          </p:nvSpPr>
          <p:spPr>
            <a:xfrm>
              <a:off x="0" y="374221"/>
              <a:ext cx="551384" cy="79208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B47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695400" y="260648"/>
              <a:ext cx="2880320" cy="909391"/>
              <a:chOff x="623392" y="310880"/>
              <a:chExt cx="2880320" cy="90939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23392" y="310880"/>
                <a:ext cx="1808480" cy="583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未来计划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623392" y="989439"/>
                <a:ext cx="2880320" cy="0"/>
              </a:xfrm>
              <a:prstGeom prst="line">
                <a:avLst/>
              </a:prstGeom>
              <a:ln w="28575">
                <a:gradFill flip="none" rotWithShape="1">
                  <a:gsLst>
                    <a:gs pos="0">
                      <a:srgbClr val="023FA1"/>
                    </a:gs>
                    <a:gs pos="9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本框 9"/>
              <p:cNvSpPr txBox="1"/>
              <p:nvPr/>
            </p:nvSpPr>
            <p:spPr>
              <a:xfrm>
                <a:off x="677820" y="989439"/>
                <a:ext cx="28258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0" i="0" u="none" strike="noStrike" kern="120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DALIAN MARITIME UNIVERSITY</a:t>
                </a:r>
                <a:endParaRPr kumimoji="0" lang="en-US" altLang="zh-CN" sz="900" b="0" i="0" u="none" strike="noStrike" kern="120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384" y="6411395"/>
            <a:ext cx="2020252" cy="422026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561663" y="1567582"/>
            <a:ext cx="11220945" cy="4446309"/>
            <a:chOff x="862841" y="1601133"/>
            <a:chExt cx="10027468" cy="4446309"/>
          </a:xfrm>
        </p:grpSpPr>
        <p:sp>
          <p:nvSpPr>
            <p:cNvPr id="19" name="圆角矩形 19"/>
            <p:cNvSpPr/>
            <p:nvPr/>
          </p:nvSpPr>
          <p:spPr>
            <a:xfrm>
              <a:off x="862841" y="1601133"/>
              <a:ext cx="10027468" cy="4446309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28575" cap="flat" cmpd="sng" algn="ctr">
              <a:solidFill>
                <a:srgbClr val="023FA1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文本框 10"/>
            <p:cNvSpPr txBox="1">
              <a:spLocks noChangeArrowheads="1"/>
            </p:cNvSpPr>
            <p:nvPr/>
          </p:nvSpPr>
          <p:spPr bwMode="auto">
            <a:xfrm>
              <a:off x="1151111" y="1797983"/>
              <a:ext cx="9451053" cy="4052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45720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研一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：</a:t>
              </a:r>
              <a:r>
                <a:rPr kumimoji="0" lang="zh-CN" alt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认真修读专业课程，提高数学能力和夯实专业基础；其次提升英语水平，培养自己文献检索和阅读能力；同时</a:t>
              </a:r>
              <a:r>
                <a:rPr lang="zh-CN" altLang="en-US" sz="1800" kern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sym typeface="+mn-ea"/>
                </a:rPr>
                <a:t>最后深入探索各种控制算法，路径规划算法等，在明白原理的基础上学会如何应用，将理论和实际相结合。最后对于选定的课题，收集并整理研究数据，着手准备论文的构造</a:t>
              </a:r>
              <a:r>
                <a:rPr kumimoji="0" lang="zh-CN" alt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。</a:t>
              </a:r>
              <a:endParaRPr kumimoji="0" lang="zh-CN" altLang="en-US" sz="180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marL="0" marR="0" lvl="0" indent="45720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研二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：拓宽自我知识视野，涉猎同系、交叉及应用学科知识，通过算法让机器人自主学习新技能并与物理环境做交互；</a:t>
              </a:r>
              <a:r>
                <a:rPr lang="zh-CN" altLang="en-US" sz="1800" kern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sym typeface="+mn-ea"/>
                </a:rPr>
                <a:t>积极参加学术会议与研究，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关注国内外机器人控制领域内容导向，以开拓发展的思维研究融合视角下的新视点。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marL="0" marR="0" lvl="0" indent="45720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研三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rPr>
                <a:t>：在最后一年时间里将把中心放在毕业论文的撰写，高质量完成专业方向论文及答辩。若在研究生发展阶段有幸拥有科研天赋，将考虑申请读博，继续在科研领域深造。若无则广泛收集就业信息，积极参加校园招聘会，投递简历，在各大厂努力获得实习机会。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marL="0" marR="0" lvl="0" indent="45720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1619185" y="4493823"/>
            <a:ext cx="8659688" cy="2375232"/>
            <a:chOff x="1619185" y="4581128"/>
            <a:chExt cx="8659688" cy="2375232"/>
          </a:xfrm>
        </p:grpSpPr>
        <p:sp>
          <p:nvSpPr>
            <p:cNvPr id="23" name="文本框 22"/>
            <p:cNvSpPr txBox="1"/>
            <p:nvPr/>
          </p:nvSpPr>
          <p:spPr>
            <a:xfrm>
              <a:off x="5511501" y="6588060"/>
              <a:ext cx="99822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2024.7.3</a:t>
              </a:r>
              <a:endParaRPr kumimoji="0" lang="zh-CN" alt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4" name="直接连接符 23"/>
            <p:cNvCxnSpPr/>
            <p:nvPr/>
          </p:nvCxnSpPr>
          <p:spPr>
            <a:xfrm>
              <a:off x="5159896" y="6772726"/>
              <a:ext cx="32346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6583346" y="6753445"/>
              <a:ext cx="32346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1619185" y="4581128"/>
              <a:ext cx="8659688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图片 3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91" y="6001797"/>
            <a:ext cx="2600475" cy="662101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2901315" y="1282065"/>
            <a:ext cx="5944235" cy="1635760"/>
            <a:chOff x="4542542" y="708265"/>
            <a:chExt cx="5724080" cy="1502031"/>
          </a:xfrm>
        </p:grpSpPr>
        <p:pic>
          <p:nvPicPr>
            <p:cNvPr id="11" name="图片 10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542542" y="708265"/>
              <a:ext cx="1502034" cy="1502031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044581" y="891336"/>
              <a:ext cx="4222037" cy="898085"/>
            </a:xfrm>
            <a:prstGeom prst="rect">
              <a:avLst/>
            </a:prstGeom>
          </p:spPr>
        </p:pic>
        <p:sp>
          <p:nvSpPr>
            <p:cNvPr id="13" name="矩形 12"/>
            <p:cNvSpPr/>
            <p:nvPr>
              <p:custDataLst>
                <p:tags r:id="rId6"/>
              </p:custDataLst>
            </p:nvPr>
          </p:nvSpPr>
          <p:spPr>
            <a:xfrm>
              <a:off x="6044576" y="1719273"/>
              <a:ext cx="4222046" cy="19650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dist">
                <a:defRPr/>
              </a:pPr>
              <a:r>
                <a:rPr lang="en-US" altLang="zh-CN" sz="800" b="1" dirty="0">
                  <a:solidFill>
                    <a:schemeClr val="bg1"/>
                  </a:solidFill>
                </a:rPr>
                <a:t>DALIAN MARITIME UNIVERSITY</a:t>
              </a:r>
              <a:endParaRPr lang="en-US" altLang="zh-CN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317875" y="2966720"/>
            <a:ext cx="5160645" cy="1486535"/>
          </a:xfrm>
          <a:prstGeom prst="rect">
            <a:avLst/>
          </a:prstGeom>
          <a:solidFill>
            <a:srgbClr val="2F5597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9600">
                <a:solidFill>
                  <a:schemeClr val="bg1"/>
                </a:solidFill>
              </a:rPr>
              <a:t>感谢垂听</a:t>
            </a:r>
            <a:endParaRPr lang="zh-CN" altLang="en-US" sz="96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COMMONDATA" val="eyJoZGlkIjoiOTA0MzhlNTBhZTJkZjJlNzBhMjk4OGNhZGZjNTE3YTYifQ=="/>
  <p:tag name="KSO_WPP_MARK_KEY" val="62996cbd-66f5-44e2-8f6f-aa33f9748c1a"/>
  <p:tag name="commondata" val="eyJoZGlkIjoiZTY0YTY5OWRmYzcxNDZlZDUzMzg0YzQxMjM3Yjg0Y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rgbClr val="5E93C7"/>
        </a:solidFill>
      </a:spPr>
      <a:bodyPr wrap="square" rtlCol="0">
        <a:noAutofit/>
      </a:bodyPr>
      <a:lstStyle>
        <a:defPPr>
          <a:defRPr lang="zh-CN" altLang="en-US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2873</Words>
  <Application>WPS 演示</Application>
  <PresentationFormat>宽屏</PresentationFormat>
  <Paragraphs>234</Paragraphs>
  <Slides>19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9" baseType="lpstr">
      <vt:lpstr>Arial</vt:lpstr>
      <vt:lpstr>宋体</vt:lpstr>
      <vt:lpstr>Wingdings</vt:lpstr>
      <vt:lpstr>汉仪君黑-45简</vt:lpstr>
      <vt:lpstr>黑体</vt:lpstr>
      <vt:lpstr>阿里巴巴普惠体 B</vt:lpstr>
      <vt:lpstr>阿里巴巴普惠体 R</vt:lpstr>
      <vt:lpstr>Calibri</vt:lpstr>
      <vt:lpstr>Arial Black</vt:lpstr>
      <vt:lpstr>微软雅黑</vt:lpstr>
      <vt:lpstr>Arial</vt:lpstr>
      <vt:lpstr>思源宋体 CN Heavy</vt:lpstr>
      <vt:lpstr>华文细黑</vt:lpstr>
      <vt:lpstr>等线</vt:lpstr>
      <vt:lpstr>Arial Unicode MS</vt:lpstr>
      <vt:lpstr>等线 Light</vt:lpstr>
      <vt:lpstr>思源宋体 CN Heavy</vt:lpstr>
      <vt:lpstr>仿宋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福阳</dc:creator>
  <cp:lastModifiedBy>Mei</cp:lastModifiedBy>
  <cp:revision>404</cp:revision>
  <dcterms:created xsi:type="dcterms:W3CDTF">2022-07-20T08:24:00Z</dcterms:created>
  <dcterms:modified xsi:type="dcterms:W3CDTF">2025-05-06T13:12:23Z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86ADE0A7660F4835B8DDEDF34CE732A4_13</vt:lpwstr>
  </property>
  <property fmtid="{D5CDD505-2E9C-101B-9397-08002B2CF9AE}" pid="3" name="KSOProductBuildVer">
    <vt:lpwstr>2052-12.1.0.16120</vt:lpwstr>
  </property>
</Properties>
</file>